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F2A44"/>
                </a:solidFill>
              </a:rPr>
              <a:t>HED: seam PSNR vs halo (px), 256 px tiles</a:t>
            </a:r>
          </a:p>
        </c:rich>
      </c:tx>
      <c:layout/>
      <c:overlay val="0"/>
    </c:title>
    <c:autoTitleDeleted val="0"/>
    <c:plotArea>
      <c:lineChart>
        <c:grouping val="standard"/>
        <c:varyColors val="0"/>
        <c:ser>
          <c:idx val="0"/>
          <c:order val="0"/>
          <c:tx>
            <c:strRef>
              <c:f>Sheet1!$B$1</c:f>
              <c:strCache>
                <c:ptCount val="1"/>
                <c:pt idx="0">
                  <c:v>HED seam PSNR (dB; bit-exact shown as 70)</c:v>
                </c:pt>
              </c:strCache>
            </c:strRef>
          </c:tx>
          <c:spPr>
            <a:ln w="31750">
              <a:solidFill>
                <a:srgbClr val="0D9488"/>
              </a:solidFill>
            </a:ln>
          </c:spPr>
          <c:marker>
            <c:spPr>
              <a:solidFill>
                <a:srgbClr val="0D9488"/>
              </a:solidFill>
              <a:ln>
                <a:solidFill>
                  <a:srgbClr val="0D9488"/>
                </a:solidFill>
              </a:ln>
            </c:spPr>
          </c:marker>
          <c:cat>
            <c:strRef>
              <c:f>Sheet1!$A$2:$A$9</c:f>
              <c:strCache>
                <c:ptCount val="8"/>
                <c:pt idx="0">
                  <c:v>0</c:v>
                </c:pt>
                <c:pt idx="1">
                  <c:v>16</c:v>
                </c:pt>
                <c:pt idx="2">
                  <c:v>32</c:v>
                </c:pt>
                <c:pt idx="3">
                  <c:v>48</c:v>
                </c:pt>
                <c:pt idx="4">
                  <c:v>64</c:v>
                </c:pt>
                <c:pt idx="5">
                  <c:v>80</c:v>
                </c:pt>
                <c:pt idx="6">
                  <c:v>96</c:v>
                </c:pt>
                <c:pt idx="7">
                  <c:v>98</c:v>
                </c:pt>
              </c:strCache>
            </c:strRef>
          </c:cat>
          <c:val>
            <c:numRef>
              <c:f>Sheet1!$B$2:$B$9</c:f>
              <c:numCache>
                <c:formatCode>General</c:formatCode>
                <c:ptCount val="8"/>
                <c:pt idx="0">
                  <c:v>16.02</c:v>
                </c:pt>
                <c:pt idx="1">
                  <c:v>23.97</c:v>
                </c:pt>
                <c:pt idx="2">
                  <c:v>28.04</c:v>
                </c:pt>
                <c:pt idx="3">
                  <c:v>31.8</c:v>
                </c:pt>
                <c:pt idx="4">
                  <c:v>37.85</c:v>
                </c:pt>
                <c:pt idx="5">
                  <c:v>42.31</c:v>
                </c:pt>
                <c:pt idx="6">
                  <c:v>55.04</c:v>
                </c:pt>
                <c:pt idx="7">
                  <c:v>70</c:v>
                </c:pt>
              </c:numCache>
            </c:numRef>
          </c:val>
          <c:smooth val="0"/>
        </c:ser>
        <c:ser>
          <c:idx val="1"/>
          <c:order val="1"/>
          <c:tx>
            <c:strRef>
              <c:f>Sheet1!$C$1</c:f>
              <c:strCache>
                <c:ptCount val="1"/>
                <c:pt idx="0">
                  <c:v>40 dB threshold</c:v>
                </c:pt>
              </c:strCache>
            </c:strRef>
          </c:tx>
          <c:spPr>
            <a:ln w="31750">
              <a:solidFill>
                <a:srgbClr val="D97706"/>
              </a:solidFill>
            </a:ln>
          </c:spPr>
          <c:marker>
            <c:spPr>
              <a:solidFill>
                <a:srgbClr val="D97706"/>
              </a:solidFill>
              <a:ln>
                <a:solidFill>
                  <a:srgbClr val="D97706"/>
                </a:solidFill>
              </a:ln>
            </c:spPr>
          </c:marker>
          <c:cat>
            <c:strRef>
              <c:f>Sheet1!$A$2:$A$9</c:f>
              <c:strCache>
                <c:ptCount val="8"/>
                <c:pt idx="0">
                  <c:v>0</c:v>
                </c:pt>
                <c:pt idx="1">
                  <c:v>16</c:v>
                </c:pt>
                <c:pt idx="2">
                  <c:v>32</c:v>
                </c:pt>
                <c:pt idx="3">
                  <c:v>48</c:v>
                </c:pt>
                <c:pt idx="4">
                  <c:v>64</c:v>
                </c:pt>
                <c:pt idx="5">
                  <c:v>80</c:v>
                </c:pt>
                <c:pt idx="6">
                  <c:v>96</c:v>
                </c:pt>
                <c:pt idx="7">
                  <c:v>98</c:v>
                </c:pt>
              </c:strCache>
            </c:strRef>
          </c:cat>
          <c:val>
            <c:numRef>
              <c:f>Sheet1!$C$2:$C$9</c:f>
              <c:numCache>
                <c:formatCode>General</c:formatCode>
                <c:ptCount val="8"/>
                <c:pt idx="0">
                  <c:v>40</c:v>
                </c:pt>
                <c:pt idx="1">
                  <c:v>40</c:v>
                </c:pt>
                <c:pt idx="2">
                  <c:v>40</c:v>
                </c:pt>
                <c:pt idx="3">
                  <c:v>40</c:v>
                </c:pt>
                <c:pt idx="4">
                  <c:v>40</c:v>
                </c:pt>
                <c:pt idx="5">
                  <c:v>40</c:v>
                </c:pt>
                <c:pt idx="6">
                  <c:v>40</c:v>
                </c:pt>
                <c:pt idx="7">
                  <c:v>40</c:v>
                </c:pt>
              </c:numCache>
            </c:numRef>
          </c:val>
          <c:smooth val="0"/>
        </c:ser>
        <c:marker val="1"/>
        <c:smooth val="0"/>
        <c:axId val="2118791784"/>
        <c:axId val="2140495176"/>
      </c:lineChart>
      <c:catAx>
        <c:axId val="2118791784"/>
        <c:scaling>
          <c:orientation val="minMax"/>
        </c:scaling>
        <c:delete val="0"/>
        <c:axPos val="b"/>
        <c:title>
          <c:tx>
            <c:rich>
              <a:bodyPr/>
              <a:lstStyle/>
              <a:p>
                <a:r>
                  <a:rPr sz="1100"/>
                  <a:t>halo (px)</a:t>
                </a:r>
              </a:p>
            </c:rich>
          </c:tx>
          <c:layout/>
          <c:overlay val="0"/>
        </c:title>
        <c:majorTickMark val="out"/>
        <c:minorTickMark val="none"/>
        <c:tickLblPos val="nextTo"/>
        <c:spPr>
          <a:ln>
            <a:solidFill>
              <a:srgbClr val="94A3B8"/>
            </a:solidFill>
          </a:ln>
        </c:spPr>
        <c:txPr>
          <a:bodyPr/>
          <a:lstStyle/>
          <a:p>
            <a:pPr>
              <a:defRPr sz="1100">
                <a:solidFill>
                  <a:srgbClr val="1F2937"/>
                </a:solidFill>
              </a:defRPr>
            </a:pPr>
          </a:p>
        </c:txPr>
        <c:crossAx val="2140495176"/>
        <c:crosses val="autoZero"/>
        <c:auto val="1"/>
        <c:lblAlgn val="ctr"/>
        <c:lblOffset val="100"/>
        <c:noMultiLvlLbl val="0"/>
      </c:catAx>
      <c:valAx>
        <c:axId val="2140495176"/>
        <c:scaling/>
        <c:delete val="0"/>
        <c:axPos val="l"/>
        <c:majorGridlines>
          <c:spPr>
            <a:ln>
              <a:solidFill>
                <a:srgbClr val="E2E8F0"/>
              </a:solidFill>
            </a:ln>
          </c:spPr>
        </c:majorGridlines>
        <c:majorTickMark val="out"/>
        <c:minorTickMark val="none"/>
        <c:tickLblPos val="nextTo"/>
        <c:spPr>
          <a:ln>
            <a:noFill/>
          </a:ln>
        </c:spPr>
        <c:txPr>
          <a:bodyPr/>
          <a:lstStyle/>
          <a:p>
            <a:pPr>
              <a:defRPr sz="1100">
                <a:solidFill>
                  <a:srgbClr val="64748B"/>
                </a:solidFill>
              </a:defRPr>
            </a:pPr>
          </a:p>
        </c:txPr>
        <c:crossAx val="2118791784"/>
        <c:crosses val="autoZero"/>
      </c:valAx>
    </c:plotArea>
    <c:legend>
      <c:legendPos val="t"/>
      <c:layout/>
      <c:overlay val="0"/>
      <c:txPr>
        <a:bodyPr/>
        <a:lstStyle/>
        <a:p>
          <a:pPr>
            <a:defRPr sz="1200"/>
          </a:pPr>
        </a:p>
      </c:txPr>
    </c:legend>
    <c:plotVisOnly val="1"/>
    <c:dispBlanksAs val="gap"/>
    <c:showDLblsOverMax val="0"/>
  </c:chart>
  <c:txPr>
    <a:bodyPr/>
    <a:lstStyle/>
    <a:p>
      <a:pPr>
        <a:defRPr sz="1200">
          <a:solidFill>
            <a:srgbClr val="1F2937"/>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F2A44"/>
                </a:solidFill>
              </a:rPr>
              <a:t>Throughput of n busy workers relative to one</a:t>
            </a:r>
          </a:p>
        </c:rich>
      </c:tx>
      <c:layout/>
      <c:overlay val="0"/>
    </c:title>
    <c:autoTitleDeleted val="0"/>
    <c:plotArea>
      <c:lineChart>
        <c:grouping val="standard"/>
        <c:varyColors val="0"/>
        <c:ser>
          <c:idx val="0"/>
          <c:order val="0"/>
          <c:tx>
            <c:strRef>
              <c:f>Sheet1!$B$1</c:f>
              <c:strCache>
                <c:ptCount val="1"/>
                <c:pt idx="0">
                  <c:v>Bilateral</c:v>
                </c:pt>
              </c:strCache>
            </c:strRef>
          </c:tx>
          <c:spPr>
            <a:ln w="31750">
              <a:solidFill>
                <a:srgbClr val="0F2A44"/>
              </a:solidFill>
            </a:ln>
          </c:spPr>
          <c:marker>
            <c:spPr>
              <a:solidFill>
                <a:srgbClr val="0F2A44"/>
              </a:solidFill>
              <a:ln>
                <a:solidFill>
                  <a:srgbClr val="0F2A44"/>
                </a:solidFill>
              </a:ln>
            </c:spPr>
          </c:marker>
          <c:cat>
            <c:strRef>
              <c:f>Sheet1!$A$2:$A$8</c:f>
              <c:strCache>
                <c:ptCount val="7"/>
                <c:pt idx="0">
                  <c:v>1</c:v>
                </c:pt>
                <c:pt idx="1">
                  <c:v>2</c:v>
                </c:pt>
                <c:pt idx="2">
                  <c:v>4</c:v>
                </c:pt>
                <c:pt idx="3">
                  <c:v>6</c:v>
                </c:pt>
                <c:pt idx="4">
                  <c:v>8</c:v>
                </c:pt>
                <c:pt idx="5">
                  <c:v>12</c:v>
                </c:pt>
                <c:pt idx="6">
                  <c:v>16</c:v>
                </c:pt>
              </c:strCache>
            </c:strRef>
          </c:cat>
          <c:val>
            <c:numRef>
              <c:f>Sheet1!$B$2:$B$8</c:f>
              <c:numCache>
                <c:formatCode>General</c:formatCode>
                <c:ptCount val="7"/>
                <c:pt idx="0">
                  <c:v>1.0</c:v>
                </c:pt>
                <c:pt idx="1">
                  <c:v>1.955</c:v>
                </c:pt>
                <c:pt idx="2">
                  <c:v>3.787</c:v>
                </c:pt>
                <c:pt idx="3">
                  <c:v>5.132</c:v>
                </c:pt>
                <c:pt idx="4">
                  <c:v>6.458</c:v>
                </c:pt>
                <c:pt idx="5">
                  <c:v>7.506</c:v>
                </c:pt>
                <c:pt idx="6">
                  <c:v>7.286</c:v>
                </c:pt>
              </c:numCache>
            </c:numRef>
          </c:val>
          <c:smooth val="0"/>
        </c:ser>
        <c:ser>
          <c:idx val="1"/>
          <c:order val="1"/>
          <c:tx>
            <c:strRef>
              <c:f>Sheet1!$C$1</c:f>
              <c:strCache>
                <c:ptCount val="1"/>
                <c:pt idx="0">
                  <c:v>HED</c:v>
                </c:pt>
              </c:strCache>
            </c:strRef>
          </c:tx>
          <c:spPr>
            <a:ln w="31750">
              <a:solidFill>
                <a:srgbClr val="0D9488"/>
              </a:solidFill>
            </a:ln>
          </c:spPr>
          <c:marker>
            <c:spPr>
              <a:solidFill>
                <a:srgbClr val="0D9488"/>
              </a:solidFill>
              <a:ln>
                <a:solidFill>
                  <a:srgbClr val="0D9488"/>
                </a:solidFill>
              </a:ln>
            </c:spPr>
          </c:marker>
          <c:cat>
            <c:strRef>
              <c:f>Sheet1!$A$2:$A$8</c:f>
              <c:strCache>
                <c:ptCount val="7"/>
                <c:pt idx="0">
                  <c:v>1</c:v>
                </c:pt>
                <c:pt idx="1">
                  <c:v>2</c:v>
                </c:pt>
                <c:pt idx="2">
                  <c:v>4</c:v>
                </c:pt>
                <c:pt idx="3">
                  <c:v>6</c:v>
                </c:pt>
                <c:pt idx="4">
                  <c:v>8</c:v>
                </c:pt>
                <c:pt idx="5">
                  <c:v>12</c:v>
                </c:pt>
                <c:pt idx="6">
                  <c:v>16</c:v>
                </c:pt>
              </c:strCache>
            </c:strRef>
          </c:cat>
          <c:val>
            <c:numRef>
              <c:f>Sheet1!$C$2:$C$8</c:f>
              <c:numCache>
                <c:formatCode>General</c:formatCode>
                <c:ptCount val="7"/>
                <c:pt idx="0">
                  <c:v>1.0</c:v>
                </c:pt>
                <c:pt idx="1">
                  <c:v>1.813</c:v>
                </c:pt>
                <c:pt idx="2">
                  <c:v>3.369</c:v>
                </c:pt>
                <c:pt idx="3">
                  <c:v>4.257</c:v>
                </c:pt>
                <c:pt idx="4">
                  <c:v>5.066</c:v>
                </c:pt>
                <c:pt idx="5">
                  <c:v>4.713</c:v>
                </c:pt>
                <c:pt idx="6">
                  <c:v>4.536</c:v>
                </c:pt>
              </c:numCache>
            </c:numRef>
          </c:val>
          <c:smooth val="0"/>
        </c:ser>
        <c:ser>
          <c:idx val="2"/>
          <c:order val="2"/>
          <c:tx>
            <c:strRef>
              <c:f>Sheet1!$D$1</c:f>
              <c:strCache>
                <c:ptCount val="1"/>
                <c:pt idx="0">
                  <c:v>Real-ESRGAN</c:v>
                </c:pt>
              </c:strCache>
            </c:strRef>
          </c:tx>
          <c:spPr>
            <a:ln w="31750">
              <a:solidFill>
                <a:srgbClr val="D97706"/>
              </a:solidFill>
            </a:ln>
          </c:spPr>
          <c:marker>
            <c:spPr>
              <a:solidFill>
                <a:srgbClr val="D97706"/>
              </a:solidFill>
              <a:ln>
                <a:solidFill>
                  <a:srgbClr val="D97706"/>
                </a:solidFill>
              </a:ln>
            </c:spPr>
          </c:marker>
          <c:cat>
            <c:strRef>
              <c:f>Sheet1!$A$2:$A$8</c:f>
              <c:strCache>
                <c:ptCount val="7"/>
                <c:pt idx="0">
                  <c:v>1</c:v>
                </c:pt>
                <c:pt idx="1">
                  <c:v>2</c:v>
                </c:pt>
                <c:pt idx="2">
                  <c:v>4</c:v>
                </c:pt>
                <c:pt idx="3">
                  <c:v>6</c:v>
                </c:pt>
                <c:pt idx="4">
                  <c:v>8</c:v>
                </c:pt>
                <c:pt idx="5">
                  <c:v>12</c:v>
                </c:pt>
                <c:pt idx="6">
                  <c:v>16</c:v>
                </c:pt>
              </c:strCache>
            </c:strRef>
          </c:cat>
          <c:val>
            <c:numRef>
              <c:f>Sheet1!$D$2:$D$8</c:f>
              <c:numCache>
                <c:formatCode>General</c:formatCode>
                <c:ptCount val="7"/>
                <c:pt idx="0">
                  <c:v>1.0</c:v>
                </c:pt>
                <c:pt idx="1">
                  <c:v>1.843</c:v>
                </c:pt>
                <c:pt idx="2">
                  <c:v>2.16</c:v>
                </c:pt>
                <c:pt idx="3">
                  <c:v>1.988</c:v>
                </c:pt>
                <c:pt idx="4">
                  <c:v>1.963</c:v>
                </c:pt>
                <c:pt idx="5">
                  <c:v>1.95</c:v>
                </c:pt>
                <c:pt idx="6">
                  <c:v>1.883</c:v>
                </c:pt>
              </c:numCache>
            </c:numRef>
          </c:val>
          <c:smooth val="0"/>
        </c:ser>
        <c:marker val="1"/>
        <c:smooth val="0"/>
        <c:axId val="2118791784"/>
        <c:axId val="2140495176"/>
      </c:lineChart>
      <c:catAx>
        <c:axId val="2118791784"/>
        <c:scaling>
          <c:orientation val="minMax"/>
        </c:scaling>
        <c:delete val="0"/>
        <c:axPos val="b"/>
        <c:title>
          <c:tx>
            <c:rich>
              <a:bodyPr/>
              <a:lstStyle/>
              <a:p>
                <a:r>
                  <a:rPr sz="1100"/>
                  <a:t>concurrent workers</a:t>
                </a:r>
              </a:p>
            </c:rich>
          </c:tx>
          <c:layout/>
          <c:overlay val="0"/>
        </c:title>
        <c:majorTickMark val="out"/>
        <c:minorTickMark val="none"/>
        <c:tickLblPos val="nextTo"/>
        <c:spPr>
          <a:ln>
            <a:solidFill>
              <a:srgbClr val="94A3B8"/>
            </a:solidFill>
          </a:ln>
        </c:spPr>
        <c:txPr>
          <a:bodyPr/>
          <a:lstStyle/>
          <a:p>
            <a:pPr>
              <a:defRPr sz="1100">
                <a:solidFill>
                  <a:srgbClr val="1F2937"/>
                </a:solidFill>
              </a:defRPr>
            </a:pPr>
          </a:p>
        </c:txPr>
        <c:crossAx val="2140495176"/>
        <c:crosses val="autoZero"/>
        <c:auto val="1"/>
        <c:lblAlgn val="ctr"/>
        <c:lblOffset val="100"/>
        <c:noMultiLvlLbl val="0"/>
      </c:catAx>
      <c:valAx>
        <c:axId val="2140495176"/>
        <c:scaling/>
        <c:delete val="0"/>
        <c:axPos val="l"/>
        <c:majorGridlines>
          <c:spPr>
            <a:ln>
              <a:solidFill>
                <a:srgbClr val="E2E8F0"/>
              </a:solidFill>
            </a:ln>
          </c:spPr>
        </c:majorGridlines>
        <c:numFmt formatCode="0.0&quot;×&quot;" sourceLinked="0"/>
        <c:majorTickMark val="out"/>
        <c:minorTickMark val="none"/>
        <c:tickLblPos val="nextTo"/>
        <c:spPr>
          <a:ln>
            <a:noFill/>
          </a:ln>
        </c:spPr>
        <c:txPr>
          <a:bodyPr/>
          <a:lstStyle/>
          <a:p>
            <a:pPr>
              <a:defRPr sz="1100">
                <a:solidFill>
                  <a:srgbClr val="64748B"/>
                </a:solidFill>
              </a:defRPr>
            </a:pPr>
          </a:p>
        </c:txPr>
        <c:crossAx val="2118791784"/>
        <c:crosses val="autoZero"/>
      </c:valAx>
    </c:plotArea>
    <c:legend>
      <c:legendPos val="t"/>
      <c:layout/>
      <c:overlay val="0"/>
      <c:txPr>
        <a:bodyPr/>
        <a:lstStyle/>
        <a:p>
          <a:pPr>
            <a:defRPr sz="1200"/>
          </a:pPr>
        </a:p>
      </c:txPr>
    </c:legend>
    <c:plotVisOnly val="1"/>
    <c:dispBlanksAs val="gap"/>
    <c:showDLblsOverMax val="0"/>
  </c:chart>
  <c:txPr>
    <a:bodyPr/>
    <a:lstStyle/>
    <a:p>
      <a:pPr>
        <a:defRPr sz="1200">
          <a:solidFill>
            <a:srgbClr val="1F2937"/>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F2A44"/>
                </a:solidFill>
              </a:rPr>
              <a:t>Speedup over sequential (in-memory engine)</a:t>
            </a:r>
          </a:p>
        </c:rich>
      </c:tx>
      <c:layout/>
      <c:overlay val="0"/>
    </c:title>
    <c:autoTitleDeleted val="0"/>
    <c:plotArea>
      <c:barChart>
        <c:barDir val="col"/>
        <c:grouping val="clustered"/>
        <c:ser>
          <c:idx val="0"/>
          <c:order val="0"/>
          <c:tx>
            <c:strRef>
              <c:f>Sheet1!$B$1</c:f>
              <c:strCache>
                <c:ptCount val="1"/>
                <c:pt idx="0">
                  <c:v>Naive: 512 px tiles, 16 workers</c:v>
                </c:pt>
              </c:strCache>
            </c:strRef>
          </c:tx>
          <c:spPr>
            <a:solidFill>
              <a:srgbClr val="94A3B8"/>
            </a:solidFill>
          </c:spPr>
          <c:cat>
            <c:strRef>
              <c:f>Sheet1!$A$2:$A$8</c:f>
              <c:strCache>
                <c:ptCount val="7"/>
                <c:pt idx="0">
                  <c:v>Grayscale</c:v>
                </c:pt>
                <c:pt idx="1">
                  <c:v>Canny</c:v>
                </c:pt>
                <c:pt idx="2">
                  <c:v>Gaussian</c:v>
                </c:pt>
                <c:pt idx="3">
                  <c:v>Sobel</c:v>
                </c:pt>
                <c:pt idx="4">
                  <c:v>Bilateral</c:v>
                </c:pt>
                <c:pt idx="5">
                  <c:v>HED</c:v>
                </c:pt>
                <c:pt idx="6">
                  <c:v>Real-ESRGAN</c:v>
                </c:pt>
              </c:strCache>
            </c:strRef>
          </c:cat>
          <c:val>
            <c:numRef>
              <c:f>Sheet1!$B$2:$B$8</c:f>
              <c:numCache>
                <c:formatCode>General</c:formatCode>
                <c:ptCount val="7"/>
                <c:pt idx="0">
                  <c:v>0.06</c:v>
                </c:pt>
                <c:pt idx="1">
                  <c:v>0.55</c:v>
                </c:pt>
                <c:pt idx="2">
                  <c:v>0.54</c:v>
                </c:pt>
                <c:pt idx="3">
                  <c:v>0.6</c:v>
                </c:pt>
                <c:pt idx="4">
                  <c:v>5.08</c:v>
                </c:pt>
                <c:pt idx="5">
                  <c:v>2.0</c:v>
                </c:pt>
                <c:pt idx="6">
                  <c:v>2.16</c:v>
                </c:pt>
              </c:numCache>
            </c:numRef>
          </c:val>
        </c:ser>
        <c:ser>
          <c:idx val="1"/>
          <c:order val="1"/>
          <c:tx>
            <c:strRef>
              <c:f>Sheet1!$C$1</c:f>
              <c:strCache>
                <c:ptCount val="1"/>
                <c:pt idx="0">
                  <c:v>Planner</c:v>
                </c:pt>
              </c:strCache>
            </c:strRef>
          </c:tx>
          <c:spPr>
            <a:solidFill>
              <a:srgbClr val="0D9488"/>
            </a:solidFill>
          </c:spPr>
          <c:cat>
            <c:strRef>
              <c:f>Sheet1!$A$2:$A$8</c:f>
              <c:strCache>
                <c:ptCount val="7"/>
                <c:pt idx="0">
                  <c:v>Grayscale</c:v>
                </c:pt>
                <c:pt idx="1">
                  <c:v>Canny</c:v>
                </c:pt>
                <c:pt idx="2">
                  <c:v>Gaussian</c:v>
                </c:pt>
                <c:pt idx="3">
                  <c:v>Sobel</c:v>
                </c:pt>
                <c:pt idx="4">
                  <c:v>Bilateral</c:v>
                </c:pt>
                <c:pt idx="5">
                  <c:v>HED</c:v>
                </c:pt>
                <c:pt idx="6">
                  <c:v>Real-ESRGAN</c:v>
                </c:pt>
              </c:strCache>
            </c:strRef>
          </c:cat>
          <c:val>
            <c:numRef>
              <c:f>Sheet1!$C$2:$C$8</c:f>
              <c:numCache>
                <c:formatCode>General</c:formatCode>
                <c:ptCount val="7"/>
                <c:pt idx="0">
                  <c:v>1.11</c:v>
                </c:pt>
                <c:pt idx="1">
                  <c:v>0.98</c:v>
                </c:pt>
                <c:pt idx="2">
                  <c:v>1.0</c:v>
                </c:pt>
                <c:pt idx="3">
                  <c:v>1.02</c:v>
                </c:pt>
                <c:pt idx="4">
                  <c:v>4.94</c:v>
                </c:pt>
                <c:pt idx="5">
                  <c:v>2.5</c:v>
                </c:pt>
                <c:pt idx="6">
                  <c:v>2.23</c:v>
                </c:pt>
              </c:numCache>
            </c:numRef>
          </c:val>
        </c:ser>
        <c:dLbls>
          <c:numFmt formatCode="0.00&quot;×&quot;" sourceLinked="0"/>
          <c:txPr>
            <a:bodyPr/>
            <a:lstStyle/>
            <a:p>
              <a:pPr>
                <a:defRPr sz="1000">
                  <a:solidFill>
                    <a:srgbClr val="1F2937"/>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94A3B8"/>
            </a:solidFill>
          </a:ln>
        </c:spPr>
        <c:txPr>
          <a:bodyPr/>
          <a:lstStyle/>
          <a:p>
            <a:pPr>
              <a:defRPr sz="1100">
                <a:solidFill>
                  <a:srgbClr val="1F2937"/>
                </a:solidFill>
              </a:defRPr>
            </a:pPr>
          </a:p>
        </c:txPr>
        <c:crossAx val="-2113994440"/>
        <c:crosses val="autoZero"/>
        <c:auto val="1"/>
        <c:lblAlgn val="ctr"/>
        <c:lblOffset val="100"/>
        <c:noMultiLvlLbl val="0"/>
      </c:catAx>
      <c:valAx>
        <c:axId val="-2113994440"/>
        <c:scaling/>
        <c:delete val="0"/>
        <c:axPos val="l"/>
        <c:majorGridlines>
          <c:spPr>
            <a:ln>
              <a:solidFill>
                <a:srgbClr val="E2E8F0"/>
              </a:solidFill>
            </a:ln>
          </c:spPr>
        </c:majorGridlines>
        <c:numFmt formatCode="0.00&quot;×&quot;" sourceLinked="0"/>
        <c:majorTickMark val="out"/>
        <c:minorTickMark val="none"/>
        <c:tickLblPos val="nextTo"/>
        <c:spPr>
          <a:ln>
            <a:noFill/>
          </a:ln>
        </c:spPr>
        <c:txPr>
          <a:bodyPr/>
          <a:lstStyle/>
          <a:p>
            <a:pPr>
              <a:defRPr sz="1100">
                <a:solidFill>
                  <a:srgbClr val="64748B"/>
                </a:solidFill>
              </a:defRPr>
            </a:pPr>
          </a:p>
        </c:txPr>
        <c:crossAx val="-2068027336"/>
        <c:crosses val="autoZero"/>
      </c:valAx>
    </c:plotArea>
    <c:legend>
      <c:legendPos val="t"/>
      <c:overlay val="0"/>
      <c:txPr>
        <a:bodyPr/>
        <a:lstStyle/>
        <a:p>
          <a:pPr>
            <a:defRPr sz="1200"/>
          </a:pPr>
        </a:p>
      </c:txPr>
    </c:legend>
    <c:dispBlanksAs val="gap"/>
  </c:chart>
  <c:txPr>
    <a:bodyPr/>
    <a:lstStyle/>
    <a:p>
      <a:pPr>
        <a:defRPr sz="1200">
          <a:solidFill>
            <a:srgbClr val="1F2937"/>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F2A44"/>
                </a:solidFill>
              </a:rPr>
              <a:t>Mean absolute % error per operation (lower is better)</a:t>
            </a:r>
          </a:p>
        </c:rich>
      </c:tx>
      <c:layout/>
      <c:overlay val="0"/>
    </c:title>
    <c:autoTitleDeleted val="0"/>
    <c:plotArea>
      <c:barChart>
        <c:barDir val="bar"/>
        <c:grouping val="clustered"/>
        <c:ser>
          <c:idx val="0"/>
          <c:order val="0"/>
          <c:tx>
            <c:strRef>
              <c:f>Sheet1!$B$1</c:f>
              <c:strCache>
                <c:ptCount val="1"/>
                <c:pt idx="0">
                  <c:v>Linear model</c:v>
                </c:pt>
              </c:strCache>
            </c:strRef>
          </c:tx>
          <c:spPr>
            <a:solidFill>
              <a:srgbClr val="94A3B8"/>
            </a:solidFill>
          </c:spPr>
          <c:cat>
            <c:strRef>
              <c:f>Sheet1!$A$2:$A$8</c:f>
              <c:strCache>
                <c:ptCount val="7"/>
                <c:pt idx="0">
                  <c:v>Bilateral</c:v>
                </c:pt>
                <c:pt idx="1">
                  <c:v>HED</c:v>
                </c:pt>
                <c:pt idx="2">
                  <c:v>Real-ESRGAN</c:v>
                </c:pt>
                <c:pt idx="3">
                  <c:v>Gaussian</c:v>
                </c:pt>
                <c:pt idx="4">
                  <c:v>Sobel</c:v>
                </c:pt>
                <c:pt idx="5">
                  <c:v>Canny</c:v>
                </c:pt>
                <c:pt idx="6">
                  <c:v>Grayscale</c:v>
                </c:pt>
              </c:strCache>
            </c:strRef>
          </c:cat>
          <c:val>
            <c:numRef>
              <c:f>Sheet1!$B$2:$B$8</c:f>
              <c:numCache>
                <c:formatCode>General</c:formatCode>
                <c:ptCount val="7"/>
                <c:pt idx="0">
                  <c:v>0.27699999999999997</c:v>
                </c:pt>
                <c:pt idx="1">
                  <c:v>0.271</c:v>
                </c:pt>
                <c:pt idx="2">
                  <c:v>0.198</c:v>
                </c:pt>
                <c:pt idx="3">
                  <c:v>0.546</c:v>
                </c:pt>
                <c:pt idx="4">
                  <c:v>0.445</c:v>
                </c:pt>
                <c:pt idx="5">
                  <c:v>0.414</c:v>
                </c:pt>
                <c:pt idx="6">
                  <c:v>0.511</c:v>
                </c:pt>
              </c:numCache>
            </c:numRef>
          </c:val>
        </c:ser>
        <c:ser>
          <c:idx val="1"/>
          <c:order val="1"/>
          <c:tx>
            <c:strRef>
              <c:f>Sheet1!$C$1</c:f>
              <c:strCache>
                <c:ptCount val="1"/>
                <c:pt idx="0">
                  <c:v>Refined model (capacity curve + serial dispatch)</c:v>
                </c:pt>
              </c:strCache>
            </c:strRef>
          </c:tx>
          <c:spPr>
            <a:solidFill>
              <a:srgbClr val="0D9488"/>
            </a:solidFill>
          </c:spPr>
          <c:cat>
            <c:strRef>
              <c:f>Sheet1!$A$2:$A$8</c:f>
              <c:strCache>
                <c:ptCount val="7"/>
                <c:pt idx="0">
                  <c:v>Bilateral</c:v>
                </c:pt>
                <c:pt idx="1">
                  <c:v>HED</c:v>
                </c:pt>
                <c:pt idx="2">
                  <c:v>Real-ESRGAN</c:v>
                </c:pt>
                <c:pt idx="3">
                  <c:v>Gaussian</c:v>
                </c:pt>
                <c:pt idx="4">
                  <c:v>Sobel</c:v>
                </c:pt>
                <c:pt idx="5">
                  <c:v>Canny</c:v>
                </c:pt>
                <c:pt idx="6">
                  <c:v>Grayscale</c:v>
                </c:pt>
              </c:strCache>
            </c:strRef>
          </c:cat>
          <c:val>
            <c:numRef>
              <c:f>Sheet1!$C$2:$C$8</c:f>
              <c:numCache>
                <c:formatCode>General</c:formatCode>
                <c:ptCount val="7"/>
                <c:pt idx="0">
                  <c:v>0.147</c:v>
                </c:pt>
                <c:pt idx="1">
                  <c:v>0.102</c:v>
                </c:pt>
                <c:pt idx="2">
                  <c:v>0.043</c:v>
                </c:pt>
                <c:pt idx="3">
                  <c:v>0.081</c:v>
                </c:pt>
                <c:pt idx="4">
                  <c:v>0.33899999999999997</c:v>
                </c:pt>
                <c:pt idx="5">
                  <c:v>0.428</c:v>
                </c:pt>
                <c:pt idx="6">
                  <c:v>0.45</c:v>
                </c:pt>
              </c:numCache>
            </c:numRef>
          </c:val>
        </c:ser>
        <c:dLbls>
          <c:numFmt formatCode="0%" sourceLinked="0"/>
          <c:txPr>
            <a:bodyPr/>
            <a:lstStyle/>
            <a:p>
              <a:pPr>
                <a:defRPr sz="1000">
                  <a:solidFill>
                    <a:srgbClr val="1F2937"/>
                  </a:solidFill>
                </a:defRPr>
              </a:pPr>
            </a:p>
          </c:txPr>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spPr>
          <a:ln>
            <a:solidFill>
              <a:srgbClr val="94A3B8"/>
            </a:solidFill>
          </a:ln>
        </c:spPr>
        <c:txPr>
          <a:bodyPr/>
          <a:lstStyle/>
          <a:p>
            <a:pPr>
              <a:defRPr sz="1100">
                <a:solidFill>
                  <a:srgbClr val="1F2937"/>
                </a:solidFill>
              </a:defRPr>
            </a:pPr>
          </a:p>
        </c:txPr>
        <c:crossAx val="-2113994440"/>
        <c:crosses val="autoZero"/>
        <c:auto val="1"/>
        <c:lblAlgn val="ctr"/>
        <c:lblOffset val="100"/>
        <c:noMultiLvlLbl val="0"/>
      </c:catAx>
      <c:valAx>
        <c:axId val="-2113994440"/>
        <c:scaling/>
        <c:delete val="0"/>
        <c:axPos val="b"/>
        <c:majorGridlines>
          <c:spPr>
            <a:ln>
              <a:solidFill>
                <a:srgbClr val="E2E8F0"/>
              </a:solidFill>
            </a:ln>
          </c:spPr>
        </c:majorGridlines>
        <c:numFmt formatCode="0%" sourceLinked="0"/>
        <c:majorTickMark val="out"/>
        <c:minorTickMark val="none"/>
        <c:tickLblPos val="nextTo"/>
        <c:spPr>
          <a:ln>
            <a:noFill/>
          </a:ln>
        </c:spPr>
        <c:txPr>
          <a:bodyPr/>
          <a:lstStyle/>
          <a:p>
            <a:pPr>
              <a:defRPr sz="1100">
                <a:solidFill>
                  <a:srgbClr val="64748B"/>
                </a:solidFill>
              </a:defRPr>
            </a:pPr>
          </a:p>
        </c:txPr>
        <c:crossAx val="-2068027336"/>
        <c:crosses val="autoZero"/>
      </c:valAx>
    </c:plotArea>
    <c:legend>
      <c:legendPos val="t"/>
      <c:overlay val="0"/>
      <c:txPr>
        <a:bodyPr/>
        <a:lstStyle/>
        <a:p>
          <a:pPr>
            <a:defRPr sz="1200"/>
          </a:pPr>
        </a:p>
      </c:txPr>
    </c:legend>
    <c:dispBlanksAs val="gap"/>
  </c:chart>
  <c:txPr>
    <a:bodyPr/>
    <a:lstStyle/>
    <a:p>
      <a:pPr>
        <a:defRPr sz="1200">
          <a:solidFill>
            <a:srgbClr val="1F2937"/>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F2A44"/>
                </a:solidFill>
              </a:rPr>
              <a:t>p95 latency (s)</a:t>
            </a:r>
          </a:p>
        </c:rich>
      </c:tx>
      <c:layout/>
      <c:overlay val="0"/>
    </c:title>
    <c:autoTitleDeleted val="0"/>
    <c:plotArea>
      <c:barChart>
        <c:barDir val="col"/>
        <c:grouping val="clustered"/>
        <c:varyColors val="0"/>
        <c:ser>
          <c:idx val="0"/>
          <c:order val="0"/>
          <c:tx>
            <c:strRef>
              <c:f>Sheet1!$B$1</c:f>
              <c:strCache>
                <c:ptCount val="1"/>
                <c:pt idx="0">
                  <c:v>p95 latency (s)</c:v>
                </c:pt>
              </c:strCache>
            </c:strRef>
          </c:tx>
          <c:dPt>
            <c:idx val="0"/>
            <c:spPr>
              <a:solidFill>
                <a:srgbClr val="94A3B8"/>
              </a:solidFill>
            </c:spPr>
          </c:dPt>
          <c:dPt>
            <c:idx val="1"/>
            <c:spPr>
              <a:solidFill>
                <a:srgbClr val="D97706"/>
              </a:solidFill>
            </c:spPr>
          </c:dPt>
          <c:dPt>
            <c:idx val="2"/>
            <c:spPr>
              <a:solidFill>
                <a:srgbClr val="0D9488"/>
              </a:solidFill>
            </c:spPr>
          </c:dPt>
          <c:cat>
            <c:strRef>
              <c:f>Sheet1!$A$2:$A$4</c:f>
              <c:strCache>
                <c:ptCount val="3"/>
                <c:pt idx="0">
                  <c:v>HPA</c:v>
                </c:pt>
                <c:pt idx="1">
                  <c:v>KEDA</c:v>
                </c:pt>
                <c:pt idx="2">
                  <c:v>Work-aware</c:v>
                </c:pt>
              </c:strCache>
            </c:strRef>
          </c:cat>
          <c:val>
            <c:numRef>
              <c:f>Sheet1!$B$2:$B$4</c:f>
              <c:numCache>
                <c:formatCode>General</c:formatCode>
                <c:ptCount val="3"/>
                <c:pt idx="0">
                  <c:v>42.663333333333334</c:v>
                </c:pt>
                <c:pt idx="1">
                  <c:v>14.843333333333334</c:v>
                </c:pt>
                <c:pt idx="2">
                  <c:v>12.506666666666666</c:v>
                </c:pt>
              </c:numCache>
            </c:numRef>
          </c:val>
        </c:ser>
        <c:dLbls>
          <c:numFmt formatCode="0.0" sourceLinked="0"/>
          <c:txPr>
            <a:bodyPr/>
            <a:lstStyle/>
            <a:p>
              <a:pPr>
                <a:defRPr sz="1000">
                  <a:solidFill>
                    <a:srgbClr val="1F2937"/>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94A3B8"/>
            </a:solidFill>
          </a:ln>
        </c:spPr>
        <c:txPr>
          <a:bodyPr/>
          <a:lstStyle/>
          <a:p>
            <a:pPr>
              <a:defRPr sz="1100">
                <a:solidFill>
                  <a:srgbClr val="1F2937"/>
                </a:solidFill>
              </a:defRPr>
            </a:pPr>
          </a:p>
        </c:txPr>
        <c:crossAx val="-2113994440"/>
        <c:crosses val="autoZero"/>
        <c:auto val="1"/>
        <c:lblAlgn val="ctr"/>
        <c:lblOffset val="100"/>
        <c:noMultiLvlLbl val="0"/>
      </c:catAx>
      <c:valAx>
        <c:axId val="-2113994440"/>
        <c:scaling/>
        <c:delete val="0"/>
        <c:axPos val="l"/>
        <c:majorGridlines>
          <c:spPr>
            <a:ln>
              <a:solidFill>
                <a:srgbClr val="E2E8F0"/>
              </a:solidFill>
            </a:ln>
          </c:spPr>
        </c:majorGridlines>
        <c:numFmt formatCode="0.0" sourceLinked="0"/>
        <c:majorTickMark val="out"/>
        <c:minorTickMark val="none"/>
        <c:tickLblPos val="nextTo"/>
        <c:spPr>
          <a:ln>
            <a:noFill/>
          </a:ln>
        </c:spPr>
        <c:txPr>
          <a:bodyPr/>
          <a:lstStyle/>
          <a:p>
            <a:pPr>
              <a:defRPr sz="1100">
                <a:solidFill>
                  <a:srgbClr val="64748B"/>
                </a:solidFill>
              </a:defRPr>
            </a:pPr>
          </a:p>
        </c:txPr>
        <c:crossAx val="-2068027336"/>
        <c:crosses val="autoZero"/>
      </c:valAx>
    </c:plotArea>
    <c:dispBlanksAs val="gap"/>
  </c:chart>
  <c:txPr>
    <a:bodyPr/>
    <a:lstStyle/>
    <a:p>
      <a:pPr>
        <a:defRPr sz="1200">
          <a:solidFill>
            <a:srgbClr val="1F2937"/>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F2A44"/>
                </a:solidFill>
              </a:rPr>
              <a:t>jobs within 30 s target (%)</a:t>
            </a:r>
          </a:p>
        </c:rich>
      </c:tx>
      <c:layout/>
      <c:overlay val="0"/>
    </c:title>
    <c:autoTitleDeleted val="0"/>
    <c:plotArea>
      <c:barChart>
        <c:barDir val="col"/>
        <c:grouping val="clustered"/>
        <c:varyColors val="0"/>
        <c:ser>
          <c:idx val="0"/>
          <c:order val="0"/>
          <c:tx>
            <c:strRef>
              <c:f>Sheet1!$B$1</c:f>
              <c:strCache>
                <c:ptCount val="1"/>
                <c:pt idx="0">
                  <c:v>jobs within 30 s target (%)</c:v>
                </c:pt>
              </c:strCache>
            </c:strRef>
          </c:tx>
          <c:dPt>
            <c:idx val="0"/>
            <c:spPr>
              <a:solidFill>
                <a:srgbClr val="94A3B8"/>
              </a:solidFill>
            </c:spPr>
          </c:dPt>
          <c:dPt>
            <c:idx val="1"/>
            <c:spPr>
              <a:solidFill>
                <a:srgbClr val="D97706"/>
              </a:solidFill>
            </c:spPr>
          </c:dPt>
          <c:dPt>
            <c:idx val="2"/>
            <c:spPr>
              <a:solidFill>
                <a:srgbClr val="0D9488"/>
              </a:solidFill>
            </c:spPr>
          </c:dPt>
          <c:cat>
            <c:strRef>
              <c:f>Sheet1!$A$2:$A$4</c:f>
              <c:strCache>
                <c:ptCount val="3"/>
                <c:pt idx="0">
                  <c:v>HPA</c:v>
                </c:pt>
                <c:pt idx="1">
                  <c:v>KEDA</c:v>
                </c:pt>
                <c:pt idx="2">
                  <c:v>Work-aware</c:v>
                </c:pt>
              </c:strCache>
            </c:strRef>
          </c:cat>
          <c:val>
            <c:numRef>
              <c:f>Sheet1!$B$2:$B$4</c:f>
              <c:numCache>
                <c:formatCode>General</c:formatCode>
                <c:ptCount val="3"/>
                <c:pt idx="0">
                  <c:v>65.6</c:v>
                </c:pt>
                <c:pt idx="1">
                  <c:v>100.0</c:v>
                </c:pt>
                <c:pt idx="2">
                  <c:v>100.0</c:v>
                </c:pt>
              </c:numCache>
            </c:numRef>
          </c:val>
        </c:ser>
        <c:dLbls>
          <c:numFmt formatCode="0" sourceLinked="0"/>
          <c:txPr>
            <a:bodyPr/>
            <a:lstStyle/>
            <a:p>
              <a:pPr>
                <a:defRPr sz="1000">
                  <a:solidFill>
                    <a:srgbClr val="1F2937"/>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94A3B8"/>
            </a:solidFill>
          </a:ln>
        </c:spPr>
        <c:txPr>
          <a:bodyPr/>
          <a:lstStyle/>
          <a:p>
            <a:pPr>
              <a:defRPr sz="1100">
                <a:solidFill>
                  <a:srgbClr val="1F2937"/>
                </a:solidFill>
              </a:defRPr>
            </a:pPr>
          </a:p>
        </c:txPr>
        <c:crossAx val="-2113994440"/>
        <c:crosses val="autoZero"/>
        <c:auto val="1"/>
        <c:lblAlgn val="ctr"/>
        <c:lblOffset val="100"/>
        <c:noMultiLvlLbl val="0"/>
      </c:catAx>
      <c:valAx>
        <c:axId val="-2113994440"/>
        <c:scaling/>
        <c:delete val="0"/>
        <c:axPos val="l"/>
        <c:majorGridlines>
          <c:spPr>
            <a:ln>
              <a:solidFill>
                <a:srgbClr val="E2E8F0"/>
              </a:solidFill>
            </a:ln>
          </c:spPr>
        </c:majorGridlines>
        <c:numFmt formatCode="0" sourceLinked="0"/>
        <c:majorTickMark val="out"/>
        <c:minorTickMark val="none"/>
        <c:tickLblPos val="nextTo"/>
        <c:spPr>
          <a:ln>
            <a:noFill/>
          </a:ln>
        </c:spPr>
        <c:txPr>
          <a:bodyPr/>
          <a:lstStyle/>
          <a:p>
            <a:pPr>
              <a:defRPr sz="1100">
                <a:solidFill>
                  <a:srgbClr val="64748B"/>
                </a:solidFill>
              </a:defRPr>
            </a:pPr>
          </a:p>
        </c:txPr>
        <c:crossAx val="-2068027336"/>
        <c:crosses val="autoZero"/>
      </c:valAx>
    </c:plotArea>
    <c:dispBlanksAs val="gap"/>
  </c:chart>
  <c:txPr>
    <a:bodyPr/>
    <a:lstStyle/>
    <a:p>
      <a:pPr>
        <a:defRPr sz="1200">
          <a:solidFill>
            <a:srgbClr val="1F2937"/>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F2A44"/>
                </a:solidFill>
              </a:rPr>
              <a:t>worker pod-seconds (cost)</a:t>
            </a:r>
          </a:p>
        </c:rich>
      </c:tx>
      <c:layout/>
      <c:overlay val="0"/>
    </c:title>
    <c:autoTitleDeleted val="0"/>
    <c:plotArea>
      <c:barChart>
        <c:barDir val="col"/>
        <c:grouping val="clustered"/>
        <c:varyColors val="0"/>
        <c:ser>
          <c:idx val="0"/>
          <c:order val="0"/>
          <c:tx>
            <c:strRef>
              <c:f>Sheet1!$B$1</c:f>
              <c:strCache>
                <c:ptCount val="1"/>
                <c:pt idx="0">
                  <c:v>worker pod-seconds (cost)</c:v>
                </c:pt>
              </c:strCache>
            </c:strRef>
          </c:tx>
          <c:dPt>
            <c:idx val="0"/>
            <c:spPr>
              <a:solidFill>
                <a:srgbClr val="94A3B8"/>
              </a:solidFill>
            </c:spPr>
          </c:dPt>
          <c:dPt>
            <c:idx val="1"/>
            <c:spPr>
              <a:solidFill>
                <a:srgbClr val="D97706"/>
              </a:solidFill>
            </c:spPr>
          </c:dPt>
          <c:dPt>
            <c:idx val="2"/>
            <c:spPr>
              <a:solidFill>
                <a:srgbClr val="0D9488"/>
              </a:solidFill>
            </c:spPr>
          </c:dPt>
          <c:cat>
            <c:strRef>
              <c:f>Sheet1!$A$2:$A$4</c:f>
              <c:strCache>
                <c:ptCount val="3"/>
                <c:pt idx="0">
                  <c:v>HPA</c:v>
                </c:pt>
                <c:pt idx="1">
                  <c:v>KEDA</c:v>
                </c:pt>
                <c:pt idx="2">
                  <c:v>Work-aware</c:v>
                </c:pt>
              </c:strCache>
            </c:strRef>
          </c:cat>
          <c:val>
            <c:numRef>
              <c:f>Sheet1!$B$2:$B$4</c:f>
              <c:numCache>
                <c:formatCode>General</c:formatCode>
                <c:ptCount val="3"/>
                <c:pt idx="0">
                  <c:v>327.6333333333333</c:v>
                </c:pt>
                <c:pt idx="1">
                  <c:v>656.8000000000001</c:v>
                </c:pt>
                <c:pt idx="2">
                  <c:v>489.9</c:v>
                </c:pt>
              </c:numCache>
            </c:numRef>
          </c:val>
        </c:ser>
        <c:dLbls>
          <c:numFmt formatCode="0" sourceLinked="0"/>
          <c:txPr>
            <a:bodyPr/>
            <a:lstStyle/>
            <a:p>
              <a:pPr>
                <a:defRPr sz="1000">
                  <a:solidFill>
                    <a:srgbClr val="1F2937"/>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94A3B8"/>
            </a:solidFill>
          </a:ln>
        </c:spPr>
        <c:txPr>
          <a:bodyPr/>
          <a:lstStyle/>
          <a:p>
            <a:pPr>
              <a:defRPr sz="1100">
                <a:solidFill>
                  <a:srgbClr val="1F2937"/>
                </a:solidFill>
              </a:defRPr>
            </a:pPr>
          </a:p>
        </c:txPr>
        <c:crossAx val="-2113994440"/>
        <c:crosses val="autoZero"/>
        <c:auto val="1"/>
        <c:lblAlgn val="ctr"/>
        <c:lblOffset val="100"/>
        <c:noMultiLvlLbl val="0"/>
      </c:catAx>
      <c:valAx>
        <c:axId val="-2113994440"/>
        <c:scaling/>
        <c:delete val="0"/>
        <c:axPos val="l"/>
        <c:majorGridlines>
          <c:spPr>
            <a:ln>
              <a:solidFill>
                <a:srgbClr val="E2E8F0"/>
              </a:solidFill>
            </a:ln>
          </c:spPr>
        </c:majorGridlines>
        <c:numFmt formatCode="0" sourceLinked="0"/>
        <c:majorTickMark val="out"/>
        <c:minorTickMark val="none"/>
        <c:tickLblPos val="nextTo"/>
        <c:spPr>
          <a:ln>
            <a:noFill/>
          </a:ln>
        </c:spPr>
        <c:txPr>
          <a:bodyPr/>
          <a:lstStyle/>
          <a:p>
            <a:pPr>
              <a:defRPr sz="1100">
                <a:solidFill>
                  <a:srgbClr val="64748B"/>
                </a:solidFill>
              </a:defRPr>
            </a:pPr>
          </a:p>
        </c:txPr>
        <c:crossAx val="-2068027336"/>
        <c:crosses val="autoZero"/>
      </c:valAx>
    </c:plotArea>
    <c:dispBlanksAs val="gap"/>
  </c:chart>
  <c:txPr>
    <a:bodyPr/>
    <a:lstStyle/>
    <a:p>
      <a:pPr>
        <a:defRPr sz="1200">
          <a:solidFill>
            <a:srgbClr val="1F2937"/>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One line: we took our tile-parallel image framework and made it cost-aware: where data lives, which operations it can run, how it plans a job and how it scales.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v1: FastAPI partitions, Redis reliable queue with Lua scripts, leases and heartbeats, last finisher stitches. Bilateral reached 4x, but four things limited it: memory, cheap ops, manual config, tile-count scaling.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data flow: upload, plan, tiles to bucket, IDs to Redis, workers claim with lease, GET tile, process, PUT result, complete via Lua, last finisher stitches, client gets a presigned URL.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Redis footprint per job shrinks ~4000x. The trade-off: each tile now costs an S3 PUT and GET; a small bilateral job went from 0.82 to 1.09 s. The planner knows this overhead. AWS templates were written but not deployed - MinIO stood in for S3.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Canny gives thin noisy edges, HED gives semantic object contours. The error maps on the right show tiled minus whole-image output with the calibrated halo: essentially zero.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Theoretical receptive field is exact but expensive. Luo et al. showed the effective receptive field is much smaller. We sweep the halo and take the smallest that meets the criterion. The 16-px snap fixed a pooling-grid misalignment.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honest result: the neural ops do not scale linearly on a single 8-core laptop. Bilateral is compute-bound and keeps scaling to ~7x. This is why the planner needs a capacity curve.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Ernest-style: calibrate a parametric model with a few measurements, then extrapolate. The planner answers three questions: distribute or not, tile size, how many workers.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Naive tiling made every cheap op slower. Planner keeps them local. Bilateral: chooses 12 workers, within 3% of naive. Neural: picks fewer workers and wins. Full framework with S3 (8 workers): 16 x 1024-px tiles instead of 64 x 512, 4-14% faster for classical ops; cluster MAPE 22%.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linear model assumes n workers give n-fold throughput. That is wrong for memory-bound ops, so it overpredicts speedup; the capacity curve fixes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term drains the backlog inside the latency target; second keeps up with steady arrivals. Ten HED tiles and ten Canny tiles look identical to KEDA, very different to us.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seeded trace for all three, interleaved runs. Discuss latency vs cost; HPA reacts late because CPU is averaged over a window, KEDA reacts to tile counts regardless of cost.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k8s manifests include MinIO with NodePort for presigned downloads, Secret for credentials, RBAC for the autoscaler. deploy/aws has bucket policy, IAM, lifecycle and IRSA - not executed.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about the single-host setup and the unexecuted AWS templates.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the four upgrades in one line each and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A44"/>
        </a:solidFill>
        <a:effectLst/>
      </p:bgPr>
    </p:bg>
    <p:spTree>
      <p:nvGrpSpPr>
        <p:cNvPr id="1" name=""/>
        <p:cNvGrpSpPr/>
        <p:nvPr/>
      </p:nvGrpSpPr>
      <p:grpSpPr/>
      <p:sp>
        <p:nvSpPr>
          <p:cNvPr id="2" name="Title"/>
          <p:cNvSpPr txBox="1"/>
          <p:nvPr/>
        </p:nvSpPr>
        <p:spPr>
          <a:xfrm>
            <a:off x="548640" y="566928"/>
            <a:ext cx="10515600" cy="640080"/>
          </a:xfrm>
          <a:prstGeom prst="rect">
            <a:avLst/>
          </a:prstGeom>
          <a:noFill/>
        </p:spPr>
        <p:txBody>
          <a:bodyPr wrap="square" lIns="0" rIns="0" tIns="0" bIns="0" anchor="t">
            <a:spAutoFit/>
          </a:bodyPr>
          <a:lstStyle/>
          <a:p>
            <a:pPr algn="l"/>
            <a:r>
              <a:rPr sz="2800" b="1" i="0">
                <a:solidFill>
                  <a:srgbClr val="FFFFFF"/>
                </a:solidFill>
                <a:latin typeface="Cambria"/>
              </a:rPr>
              <a:t/>
            </a:r>
          </a:p>
        </p:txBody>
      </p:sp>
      <p:sp>
        <p:nvSpPr>
          <p:cNvPr id="3" name="TextBox 2"/>
          <p:cNvSpPr txBox="1"/>
          <p:nvPr/>
        </p:nvSpPr>
        <p:spPr>
          <a:xfrm>
            <a:off x="731520" y="914400"/>
            <a:ext cx="10058400" cy="365760"/>
          </a:xfrm>
          <a:prstGeom prst="rect">
            <a:avLst/>
          </a:prstGeom>
          <a:noFill/>
        </p:spPr>
        <p:txBody>
          <a:bodyPr wrap="square" lIns="0" rIns="0" tIns="0" bIns="0" anchor="t">
            <a:spAutoFit/>
          </a:bodyPr>
          <a:lstStyle/>
          <a:p>
            <a:pPr algn="l"/>
            <a:r>
              <a:rPr sz="1300" b="1" i="0">
                <a:solidFill>
                  <a:srgbClr val="0D9488"/>
                </a:solidFill>
                <a:latin typeface="Calibri"/>
              </a:rPr>
              <a:t>BECE355L · ADVANCED CLOUD COMPUTING · FALL 2026–27</a:t>
            </a:r>
          </a:p>
        </p:txBody>
      </p:sp>
      <p:sp>
        <p:nvSpPr>
          <p:cNvPr id="4" name="TextBox 3"/>
          <p:cNvSpPr txBox="1"/>
          <p:nvPr/>
        </p:nvSpPr>
        <p:spPr>
          <a:xfrm>
            <a:off x="731520" y="1463040"/>
            <a:ext cx="10515600" cy="1828800"/>
          </a:xfrm>
          <a:prstGeom prst="rect">
            <a:avLst/>
          </a:prstGeom>
          <a:noFill/>
        </p:spPr>
        <p:txBody>
          <a:bodyPr wrap="square" lIns="0" rIns="0" tIns="0" bIns="0" anchor="t">
            <a:spAutoFit/>
          </a:bodyPr>
          <a:lstStyle/>
          <a:p>
            <a:pPr algn="l"/>
            <a:r>
              <a:rPr sz="4600" b="1" i="0">
                <a:solidFill>
                  <a:srgbClr val="FFFFFF"/>
                </a:solidFill>
                <a:latin typeface="Cambria"/>
              </a:rPr>
              <a:t>Cloud-Native Parallel Image Processing</a:t>
            </a:r>
          </a:p>
        </p:txBody>
      </p:sp>
      <p:sp>
        <p:nvSpPr>
          <p:cNvPr id="5" name="TextBox 4"/>
          <p:cNvSpPr txBox="1"/>
          <p:nvPr/>
        </p:nvSpPr>
        <p:spPr>
          <a:xfrm>
            <a:off x="731520" y="3063240"/>
            <a:ext cx="10515600" cy="914400"/>
          </a:xfrm>
          <a:prstGeom prst="rect">
            <a:avLst/>
          </a:prstGeom>
          <a:noFill/>
        </p:spPr>
        <p:txBody>
          <a:bodyPr wrap="square" lIns="0" rIns="0" tIns="0" bIns="0" anchor="t">
            <a:spAutoFit/>
          </a:bodyPr>
          <a:lstStyle/>
          <a:p>
            <a:pPr algn="l"/>
            <a:r>
              <a:rPr sz="2200" b="0" i="1">
                <a:solidFill>
                  <a:srgbClr val="CBD5E1"/>
                </a:solidFill>
                <a:latin typeface="Calibri"/>
              </a:rPr>
              <a:t>Object storage · deep-learning operations · a cost-aware planner · work-aware autoscaling</a:t>
            </a:r>
          </a:p>
        </p:txBody>
      </p:sp>
      <p:sp>
        <p:nvSpPr>
          <p:cNvPr id="6" name="Rectangle 5"/>
          <p:cNvSpPr/>
          <p:nvPr/>
        </p:nvSpPr>
        <p:spPr>
          <a:xfrm>
            <a:off x="731520" y="4297680"/>
            <a:ext cx="54864" cy="685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297680"/>
            <a:ext cx="2468880" cy="365760"/>
          </a:xfrm>
          <a:prstGeom prst="rect">
            <a:avLst/>
          </a:prstGeom>
          <a:noFill/>
        </p:spPr>
        <p:txBody>
          <a:bodyPr wrap="square" lIns="0" rIns="0" tIns="0" bIns="0" anchor="t">
            <a:spAutoFit/>
          </a:bodyPr>
          <a:lstStyle/>
          <a:p>
            <a:pPr algn="l"/>
            <a:r>
              <a:rPr sz="1700" b="1" i="0">
                <a:solidFill>
                  <a:srgbClr val="FFFFFF"/>
                </a:solidFill>
                <a:latin typeface="Calibri"/>
              </a:rPr>
              <a:t>Prapti Kurkuri</a:t>
            </a:r>
          </a:p>
        </p:txBody>
      </p:sp>
      <p:sp>
        <p:nvSpPr>
          <p:cNvPr id="8" name="TextBox 7"/>
          <p:cNvSpPr txBox="1"/>
          <p:nvPr/>
        </p:nvSpPr>
        <p:spPr>
          <a:xfrm>
            <a:off x="914400" y="4663440"/>
            <a:ext cx="2468880" cy="365760"/>
          </a:xfrm>
          <a:prstGeom prst="rect">
            <a:avLst/>
          </a:prstGeom>
          <a:noFill/>
        </p:spPr>
        <p:txBody>
          <a:bodyPr wrap="square" lIns="0" rIns="0" tIns="0" bIns="0" anchor="t">
            <a:spAutoFit/>
          </a:bodyPr>
          <a:lstStyle/>
          <a:p>
            <a:pPr algn="l"/>
            <a:r>
              <a:rPr sz="1300" b="0" i="0">
                <a:solidFill>
                  <a:srgbClr val="CBD5E1"/>
                </a:solidFill>
                <a:latin typeface="Calibri"/>
              </a:rPr>
              <a:t>24BVD0185</a:t>
            </a:r>
          </a:p>
        </p:txBody>
      </p:sp>
      <p:sp>
        <p:nvSpPr>
          <p:cNvPr id="9" name="Rectangle 8"/>
          <p:cNvSpPr/>
          <p:nvPr/>
        </p:nvSpPr>
        <p:spPr>
          <a:xfrm>
            <a:off x="3474720" y="4297680"/>
            <a:ext cx="54864" cy="685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4297680"/>
            <a:ext cx="2468880" cy="365760"/>
          </a:xfrm>
          <a:prstGeom prst="rect">
            <a:avLst/>
          </a:prstGeom>
          <a:noFill/>
        </p:spPr>
        <p:txBody>
          <a:bodyPr wrap="square" lIns="0" rIns="0" tIns="0" bIns="0" anchor="t">
            <a:spAutoFit/>
          </a:bodyPr>
          <a:lstStyle/>
          <a:p>
            <a:pPr algn="l"/>
            <a:r>
              <a:rPr sz="1700" b="1" i="0">
                <a:solidFill>
                  <a:srgbClr val="FFFFFF"/>
                </a:solidFill>
                <a:latin typeface="Calibri"/>
              </a:rPr>
              <a:t>Vaanya Garg</a:t>
            </a:r>
          </a:p>
        </p:txBody>
      </p:sp>
      <p:sp>
        <p:nvSpPr>
          <p:cNvPr id="11" name="TextBox 10"/>
          <p:cNvSpPr txBox="1"/>
          <p:nvPr/>
        </p:nvSpPr>
        <p:spPr>
          <a:xfrm>
            <a:off x="3657600" y="4663440"/>
            <a:ext cx="2468880" cy="365760"/>
          </a:xfrm>
          <a:prstGeom prst="rect">
            <a:avLst/>
          </a:prstGeom>
          <a:noFill/>
        </p:spPr>
        <p:txBody>
          <a:bodyPr wrap="square" lIns="0" rIns="0" tIns="0" bIns="0" anchor="t">
            <a:spAutoFit/>
          </a:bodyPr>
          <a:lstStyle/>
          <a:p>
            <a:pPr algn="l"/>
            <a:r>
              <a:rPr sz="1300" b="0" i="0">
                <a:solidFill>
                  <a:srgbClr val="CBD5E1"/>
                </a:solidFill>
                <a:latin typeface="Calibri"/>
              </a:rPr>
              <a:t>24BVD0139</a:t>
            </a:r>
          </a:p>
        </p:txBody>
      </p:sp>
      <p:sp>
        <p:nvSpPr>
          <p:cNvPr id="12" name="Rectangle 11"/>
          <p:cNvSpPr/>
          <p:nvPr/>
        </p:nvSpPr>
        <p:spPr>
          <a:xfrm>
            <a:off x="6217920" y="4297680"/>
            <a:ext cx="54864" cy="685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297680"/>
            <a:ext cx="2468880" cy="365760"/>
          </a:xfrm>
          <a:prstGeom prst="rect">
            <a:avLst/>
          </a:prstGeom>
          <a:noFill/>
        </p:spPr>
        <p:txBody>
          <a:bodyPr wrap="square" lIns="0" rIns="0" tIns="0" bIns="0" anchor="t">
            <a:spAutoFit/>
          </a:bodyPr>
          <a:lstStyle/>
          <a:p>
            <a:pPr algn="l"/>
            <a:r>
              <a:rPr sz="1700" b="1" i="0">
                <a:solidFill>
                  <a:srgbClr val="FFFFFF"/>
                </a:solidFill>
                <a:latin typeface="Calibri"/>
              </a:rPr>
              <a:t>Aditya Manoj</a:t>
            </a:r>
          </a:p>
        </p:txBody>
      </p:sp>
      <p:sp>
        <p:nvSpPr>
          <p:cNvPr id="14" name="TextBox 13"/>
          <p:cNvSpPr txBox="1"/>
          <p:nvPr/>
        </p:nvSpPr>
        <p:spPr>
          <a:xfrm>
            <a:off x="6400800" y="4663440"/>
            <a:ext cx="2468880" cy="365760"/>
          </a:xfrm>
          <a:prstGeom prst="rect">
            <a:avLst/>
          </a:prstGeom>
          <a:noFill/>
        </p:spPr>
        <p:txBody>
          <a:bodyPr wrap="square" lIns="0" rIns="0" tIns="0" bIns="0" anchor="t">
            <a:spAutoFit/>
          </a:bodyPr>
          <a:lstStyle/>
          <a:p>
            <a:pPr algn="l"/>
            <a:r>
              <a:rPr sz="1300" b="0" i="0">
                <a:solidFill>
                  <a:srgbClr val="CBD5E1"/>
                </a:solidFill>
                <a:latin typeface="Calibri"/>
              </a:rPr>
              <a:t>24BVD0070</a:t>
            </a:r>
          </a:p>
        </p:txBody>
      </p:sp>
      <p:sp>
        <p:nvSpPr>
          <p:cNvPr id="15" name="Rectangle 14"/>
          <p:cNvSpPr/>
          <p:nvPr/>
        </p:nvSpPr>
        <p:spPr>
          <a:xfrm>
            <a:off x="8961120" y="4297680"/>
            <a:ext cx="54864" cy="685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0" y="4297680"/>
            <a:ext cx="2468880" cy="365760"/>
          </a:xfrm>
          <a:prstGeom prst="rect">
            <a:avLst/>
          </a:prstGeom>
          <a:noFill/>
        </p:spPr>
        <p:txBody>
          <a:bodyPr wrap="square" lIns="0" rIns="0" tIns="0" bIns="0" anchor="t">
            <a:spAutoFit/>
          </a:bodyPr>
          <a:lstStyle/>
          <a:p>
            <a:pPr algn="l"/>
            <a:r>
              <a:rPr sz="1700" b="1" i="0">
                <a:solidFill>
                  <a:srgbClr val="FFFFFF"/>
                </a:solidFill>
                <a:latin typeface="Calibri"/>
              </a:rPr>
              <a:t>Arrnav Trisal</a:t>
            </a:r>
          </a:p>
        </p:txBody>
      </p:sp>
      <p:sp>
        <p:nvSpPr>
          <p:cNvPr id="17" name="TextBox 16"/>
          <p:cNvSpPr txBox="1"/>
          <p:nvPr/>
        </p:nvSpPr>
        <p:spPr>
          <a:xfrm>
            <a:off x="9144000" y="4663440"/>
            <a:ext cx="2468880" cy="365760"/>
          </a:xfrm>
          <a:prstGeom prst="rect">
            <a:avLst/>
          </a:prstGeom>
          <a:noFill/>
        </p:spPr>
        <p:txBody>
          <a:bodyPr wrap="square" lIns="0" rIns="0" tIns="0" bIns="0" anchor="t">
            <a:spAutoFit/>
          </a:bodyPr>
          <a:lstStyle/>
          <a:p>
            <a:pPr algn="l"/>
            <a:r>
              <a:rPr sz="1300" b="0" i="0">
                <a:solidFill>
                  <a:srgbClr val="CBD5E1"/>
                </a:solidFill>
                <a:latin typeface="Calibri"/>
              </a:rPr>
              <a:t>24BVD0064</a:t>
            </a:r>
          </a:p>
        </p:txBody>
      </p:sp>
      <p:sp>
        <p:nvSpPr>
          <p:cNvPr id="18" name="TextBox 17"/>
          <p:cNvSpPr txBox="1"/>
          <p:nvPr/>
        </p:nvSpPr>
        <p:spPr>
          <a:xfrm>
            <a:off x="731520" y="5760720"/>
            <a:ext cx="10058400" cy="365760"/>
          </a:xfrm>
          <a:prstGeom prst="rect">
            <a:avLst/>
          </a:prstGeom>
          <a:noFill/>
        </p:spPr>
        <p:txBody>
          <a:bodyPr wrap="square" lIns="0" rIns="0" tIns="0" bIns="0" anchor="t">
            <a:spAutoFit/>
          </a:bodyPr>
          <a:lstStyle/>
          <a:p>
            <a:pPr algn="l"/>
            <a:r>
              <a:rPr sz="1400" b="0" i="0">
                <a:solidFill>
                  <a:srgbClr val="CBD5E1"/>
                </a:solidFill>
                <a:latin typeface="Calibri"/>
              </a:rPr>
              <a:t>Faculty: Aparna Mohanty  ·  SENSE, VIT Vellore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r>
              <a:rPr sz="1100" b="1" i="0">
                <a:solidFill>
                  <a:srgbClr val="0D9488"/>
                </a:solidFill>
                <a:latin typeface="Calibri"/>
              </a:rPr>
              <a:t>STARTING POINT</a:t>
            </a:r>
          </a:p>
        </p:txBody>
      </p:sp>
      <p:sp>
        <p:nvSpPr>
          <p:cNvPr id="3" name="Title"/>
          <p:cNvSpPr txBox="1"/>
          <p:nvPr/>
        </p:nvSpPr>
        <p:spPr>
          <a:xfrm>
            <a:off x="548640" y="566928"/>
            <a:ext cx="10515600" cy="640080"/>
          </a:xfrm>
          <a:prstGeom prst="rect">
            <a:avLst/>
          </a:prstGeom>
          <a:noFill/>
        </p:spPr>
        <p:txBody>
          <a:bodyPr wrap="square" lIns="0" rIns="0" tIns="0" bIns="0" anchor="t">
            <a:spAutoFit/>
          </a:bodyPr>
          <a:lstStyle/>
          <a:p>
            <a:pPr algn="l"/>
            <a:r>
              <a:rPr sz="2800" b="1" i="0">
                <a:solidFill>
                  <a:srgbClr val="0F2A44"/>
                </a:solidFill>
                <a:latin typeface="Cambria"/>
              </a:rPr>
              <a:t>Version 1 worked — and showed four limits</a:t>
            </a:r>
          </a:p>
        </p:txBody>
      </p:sp>
      <p:sp>
        <p:nvSpPr>
          <p:cNvPr id="4" name="TextBox 3"/>
          <p:cNvSpPr txBox="1"/>
          <p:nvPr/>
        </p:nvSpPr>
        <p:spPr>
          <a:xfrm>
            <a:off x="11155680" y="6446520"/>
            <a:ext cx="731520" cy="274320"/>
          </a:xfrm>
          <a:prstGeom prst="rect">
            <a:avLst/>
          </a:prstGeom>
          <a:noFill/>
        </p:spPr>
        <p:txBody>
          <a:bodyPr wrap="square" lIns="0" rIns="0" tIns="0" bIns="0" anchor="t">
            <a:spAutoFit/>
          </a:bodyPr>
          <a:lstStyle/>
          <a:p>
            <a:pPr algn="r"/>
            <a:r>
              <a:rPr sz="1000" b="0" i="0">
                <a:solidFill>
                  <a:srgbClr val="64748B"/>
                </a:solidFill>
                <a:latin typeface="Calibri"/>
              </a:rPr>
              <a:t>2</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4748B"/>
                </a:solidFill>
                <a:latin typeface="Calibri"/>
              </a:rPr>
              <a:t>Cloud-Native Parallel Image Processing · BECE355L</a:t>
            </a:r>
          </a:p>
        </p:txBody>
      </p:sp>
      <p:sp>
        <p:nvSpPr>
          <p:cNvPr id="6" name="TextBox 5"/>
          <p:cNvSpPr txBox="1"/>
          <p:nvPr/>
        </p:nvSpPr>
        <p:spPr>
          <a:xfrm>
            <a:off x="548640" y="1325880"/>
            <a:ext cx="10972800" cy="731520"/>
          </a:xfrm>
          <a:prstGeom prst="rect">
            <a:avLst/>
          </a:prstGeom>
          <a:noFill/>
        </p:spPr>
        <p:txBody>
          <a:bodyPr wrap="square" lIns="0" rIns="0" tIns="0" bIns="0" anchor="t">
            <a:spAutoFit/>
          </a:bodyPr>
          <a:lstStyle/>
          <a:p>
            <a:pPr algn="l"/>
            <a:r>
              <a:rPr sz="1600" b="0" i="0">
                <a:solidFill>
                  <a:srgbClr val="64748B"/>
                </a:solidFill>
                <a:latin typeface="Calibri"/>
              </a:rPr>
              <a:t>Image → halo tiles → one Redis task per tile → stateless worker pods (leases, retries) → stitched output identical to whole-image processing.</a:t>
            </a:r>
          </a:p>
        </p:txBody>
      </p:sp>
      <p:sp>
        <p:nvSpPr>
          <p:cNvPr id="7" name="Rectangle 6"/>
          <p:cNvSpPr/>
          <p:nvPr/>
        </p:nvSpPr>
        <p:spPr>
          <a:xfrm>
            <a:off x="548640" y="2331720"/>
            <a:ext cx="2606040"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60320"/>
            <a:ext cx="2286000" cy="731520"/>
          </a:xfrm>
          <a:prstGeom prst="rect">
            <a:avLst/>
          </a:prstGeom>
          <a:noFill/>
        </p:spPr>
        <p:txBody>
          <a:bodyPr wrap="square" lIns="0" rIns="0" tIns="0" bIns="0" anchor="t">
            <a:spAutoFit/>
          </a:bodyPr>
          <a:lstStyle/>
          <a:p>
            <a:pPr algn="l"/>
            <a:r>
              <a:rPr sz="3600" b="1" i="0">
                <a:solidFill>
                  <a:srgbClr val="D97706"/>
                </a:solidFill>
                <a:latin typeface="Cambria"/>
              </a:rPr>
              <a:t>226 MB</a:t>
            </a:r>
          </a:p>
        </p:txBody>
      </p:sp>
      <p:sp>
        <p:nvSpPr>
          <p:cNvPr id="9" name="TextBox 8"/>
          <p:cNvSpPr txBox="1"/>
          <p:nvPr/>
        </p:nvSpPr>
        <p:spPr>
          <a:xfrm>
            <a:off x="777240" y="3337560"/>
            <a:ext cx="2286000" cy="731520"/>
          </a:xfrm>
          <a:prstGeom prst="rect">
            <a:avLst/>
          </a:prstGeom>
          <a:noFill/>
        </p:spPr>
        <p:txBody>
          <a:bodyPr wrap="square" lIns="0" rIns="0" tIns="0" bIns="0" anchor="t">
            <a:spAutoFit/>
          </a:bodyPr>
          <a:lstStyle/>
          <a:p>
            <a:pPr algn="l"/>
            <a:r>
              <a:rPr sz="1300" b="0" i="0">
                <a:solidFill>
                  <a:srgbClr val="64748B"/>
                </a:solidFill>
                <a:latin typeface="Calibri"/>
              </a:rPr>
              <a:t>of Redis per 8192² job:
every tile byte went through Redis</a:t>
            </a:r>
          </a:p>
        </p:txBody>
      </p:sp>
      <p:sp>
        <p:nvSpPr>
          <p:cNvPr id="10" name="Rectangle 9"/>
          <p:cNvSpPr/>
          <p:nvPr/>
        </p:nvSpPr>
        <p:spPr>
          <a:xfrm>
            <a:off x="3383280" y="2331720"/>
            <a:ext cx="2606040"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560320"/>
            <a:ext cx="2286000" cy="731520"/>
          </a:xfrm>
          <a:prstGeom prst="rect">
            <a:avLst/>
          </a:prstGeom>
          <a:noFill/>
        </p:spPr>
        <p:txBody>
          <a:bodyPr wrap="square" lIns="0" rIns="0" tIns="0" bIns="0" anchor="t">
            <a:spAutoFit/>
          </a:bodyPr>
          <a:lstStyle/>
          <a:p>
            <a:pPr algn="l"/>
            <a:r>
              <a:rPr sz="3600" b="1" i="0">
                <a:solidFill>
                  <a:srgbClr val="D97706"/>
                </a:solidFill>
                <a:latin typeface="Cambria"/>
              </a:rPr>
              <a:t>2 jobs</a:t>
            </a:r>
          </a:p>
        </p:txBody>
      </p:sp>
      <p:sp>
        <p:nvSpPr>
          <p:cNvPr id="12" name="TextBox 11"/>
          <p:cNvSpPr txBox="1"/>
          <p:nvPr/>
        </p:nvSpPr>
        <p:spPr>
          <a:xfrm>
            <a:off x="3611880" y="3337560"/>
            <a:ext cx="2286000" cy="731520"/>
          </a:xfrm>
          <a:prstGeom prst="rect">
            <a:avLst/>
          </a:prstGeom>
          <a:noFill/>
        </p:spPr>
        <p:txBody>
          <a:bodyPr wrap="square" lIns="0" rIns="0" tIns="0" bIns="0" anchor="t">
            <a:spAutoFit/>
          </a:bodyPr>
          <a:lstStyle/>
          <a:p>
            <a:pPr algn="l"/>
            <a:r>
              <a:rPr sz="1300" b="0" i="0">
                <a:solidFill>
                  <a:srgbClr val="64748B"/>
                </a:solidFill>
                <a:latin typeface="Calibri"/>
              </a:rPr>
              <a:t>fit in 1 GB of Redis;
12288² images were rejected</a:t>
            </a:r>
          </a:p>
        </p:txBody>
      </p:sp>
      <p:sp>
        <p:nvSpPr>
          <p:cNvPr id="13" name="Rectangle 12"/>
          <p:cNvSpPr/>
          <p:nvPr/>
        </p:nvSpPr>
        <p:spPr>
          <a:xfrm>
            <a:off x="6217920" y="2331720"/>
            <a:ext cx="2606040"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560320"/>
            <a:ext cx="2286000" cy="731520"/>
          </a:xfrm>
          <a:prstGeom prst="rect">
            <a:avLst/>
          </a:prstGeom>
          <a:noFill/>
        </p:spPr>
        <p:txBody>
          <a:bodyPr wrap="square" lIns="0" rIns="0" tIns="0" bIns="0" anchor="t">
            <a:spAutoFit/>
          </a:bodyPr>
          <a:lstStyle/>
          <a:p>
            <a:pPr algn="l"/>
            <a:r>
              <a:rPr sz="3600" b="1" i="0">
                <a:solidFill>
                  <a:srgbClr val="D97706"/>
                </a:solidFill>
                <a:latin typeface="Cambria"/>
              </a:rPr>
              <a:t>0.45×</a:t>
            </a:r>
          </a:p>
        </p:txBody>
      </p:sp>
      <p:sp>
        <p:nvSpPr>
          <p:cNvPr id="15" name="TextBox 14"/>
          <p:cNvSpPr txBox="1"/>
          <p:nvPr/>
        </p:nvSpPr>
        <p:spPr>
          <a:xfrm>
            <a:off x="6446520" y="3337560"/>
            <a:ext cx="2286000" cy="731520"/>
          </a:xfrm>
          <a:prstGeom prst="rect">
            <a:avLst/>
          </a:prstGeom>
          <a:noFill/>
        </p:spPr>
        <p:txBody>
          <a:bodyPr wrap="square" lIns="0" rIns="0" tIns="0" bIns="0" anchor="t">
            <a:spAutoFit/>
          </a:bodyPr>
          <a:lstStyle/>
          <a:p>
            <a:pPr algn="l"/>
            <a:r>
              <a:rPr sz="1300" b="0" i="0">
                <a:solidFill>
                  <a:srgbClr val="64748B"/>
                </a:solidFill>
                <a:latin typeface="Calibri"/>
              </a:rPr>
              <a:t>Canny when distributed:
moving a tile cost more than filtering it</a:t>
            </a:r>
          </a:p>
        </p:txBody>
      </p:sp>
      <p:sp>
        <p:nvSpPr>
          <p:cNvPr id="16" name="Rectangle 15"/>
          <p:cNvSpPr/>
          <p:nvPr/>
        </p:nvSpPr>
        <p:spPr>
          <a:xfrm>
            <a:off x="9052560" y="2331720"/>
            <a:ext cx="2606040"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81160" y="2560320"/>
            <a:ext cx="2286000" cy="731520"/>
          </a:xfrm>
          <a:prstGeom prst="rect">
            <a:avLst/>
          </a:prstGeom>
          <a:noFill/>
        </p:spPr>
        <p:txBody>
          <a:bodyPr wrap="square" lIns="0" rIns="0" tIns="0" bIns="0" anchor="t">
            <a:spAutoFit/>
          </a:bodyPr>
          <a:lstStyle/>
          <a:p>
            <a:pPr algn="l"/>
            <a:r>
              <a:rPr sz="3600" b="1" i="0">
                <a:solidFill>
                  <a:srgbClr val="D97706"/>
                </a:solidFill>
                <a:latin typeface="Cambria"/>
              </a:rPr>
              <a:t>1 tile = 1</a:t>
            </a:r>
          </a:p>
        </p:txBody>
      </p:sp>
      <p:sp>
        <p:nvSpPr>
          <p:cNvPr id="18" name="TextBox 17"/>
          <p:cNvSpPr txBox="1"/>
          <p:nvPr/>
        </p:nvSpPr>
        <p:spPr>
          <a:xfrm>
            <a:off x="9281160" y="3337560"/>
            <a:ext cx="2286000" cy="731520"/>
          </a:xfrm>
          <a:prstGeom prst="rect">
            <a:avLst/>
          </a:prstGeom>
          <a:noFill/>
        </p:spPr>
        <p:txBody>
          <a:bodyPr wrap="square" lIns="0" rIns="0" tIns="0" bIns="0" anchor="t">
            <a:spAutoFit/>
          </a:bodyPr>
          <a:lstStyle/>
          <a:p>
            <a:pPr algn="l"/>
            <a:r>
              <a:rPr sz="1300" b="0" i="0">
                <a:solidFill>
                  <a:srgbClr val="64748B"/>
                </a:solidFill>
                <a:latin typeface="Calibri"/>
              </a:rPr>
              <a:t>autoscaler counted tiles,
but an HED tile costs ~1800× a Canny tile</a:t>
            </a:r>
          </a:p>
        </p:txBody>
      </p:sp>
      <p:sp>
        <p:nvSpPr>
          <p:cNvPr id="19" name="TextBox 18"/>
          <p:cNvSpPr txBox="1"/>
          <p:nvPr/>
        </p:nvSpPr>
        <p:spPr>
          <a:xfrm>
            <a:off x="548640" y="5120640"/>
            <a:ext cx="10972800" cy="1097280"/>
          </a:xfrm>
          <a:prstGeom prst="rect">
            <a:avLst/>
          </a:prstGeom>
          <a:noFill/>
        </p:spPr>
        <p:txBody>
          <a:bodyPr wrap="square" lIns="0" rIns="0" tIns="0" bIns="0" anchor="t">
            <a:spAutoFit/>
          </a:bodyPr>
          <a:lstStyle/>
          <a:p>
            <a:pPr algn="l"/>
            <a:r>
              <a:rPr sz="1700" b="1" i="0">
                <a:solidFill>
                  <a:srgbClr val="0F2A44"/>
                </a:solidFill>
                <a:latin typeface="Calibri"/>
              </a:rPr>
              <a:t>Four upgrades, one per limit:  </a:t>
            </a:r>
            <a:r>
              <a:rPr sz="1700" b="0" i="0">
                <a:solidFill>
                  <a:srgbClr val="1F2937"/>
                </a:solidFill>
                <a:latin typeface="Calibri"/>
              </a:rPr>
              <a:t>①  object storage   ②  deep-learning ops   ③  cost-aware planner   ④  work-aware autoscaling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r>
              <a:rPr sz="1100" b="1" i="0">
                <a:solidFill>
                  <a:srgbClr val="0D9488"/>
                </a:solidFill>
                <a:latin typeface="Calibri"/>
              </a:rPr>
              <a:t>SYSTEM</a:t>
            </a:r>
          </a:p>
        </p:txBody>
      </p:sp>
      <p:sp>
        <p:nvSpPr>
          <p:cNvPr id="3" name="Title"/>
          <p:cNvSpPr txBox="1"/>
          <p:nvPr/>
        </p:nvSpPr>
        <p:spPr>
          <a:xfrm>
            <a:off x="548640" y="566928"/>
            <a:ext cx="10515600" cy="640080"/>
          </a:xfrm>
          <a:prstGeom prst="rect">
            <a:avLst/>
          </a:prstGeom>
          <a:noFill/>
        </p:spPr>
        <p:txBody>
          <a:bodyPr wrap="square" lIns="0" rIns="0" tIns="0" bIns="0" anchor="t">
            <a:spAutoFit/>
          </a:bodyPr>
          <a:lstStyle/>
          <a:p>
            <a:pPr algn="l"/>
            <a:r>
              <a:rPr sz="2800" b="1" i="0">
                <a:solidFill>
                  <a:srgbClr val="0F2A44"/>
                </a:solidFill>
                <a:latin typeface="Cambria"/>
              </a:rPr>
              <a:t>Architecture after the upgrades</a:t>
            </a:r>
          </a:p>
        </p:txBody>
      </p:sp>
      <p:sp>
        <p:nvSpPr>
          <p:cNvPr id="4" name="TextBox 3"/>
          <p:cNvSpPr txBox="1"/>
          <p:nvPr/>
        </p:nvSpPr>
        <p:spPr>
          <a:xfrm>
            <a:off x="11155680" y="6446520"/>
            <a:ext cx="731520" cy="274320"/>
          </a:xfrm>
          <a:prstGeom prst="rect">
            <a:avLst/>
          </a:prstGeom>
          <a:noFill/>
        </p:spPr>
        <p:txBody>
          <a:bodyPr wrap="square" lIns="0" rIns="0" tIns="0" bIns="0" anchor="t">
            <a:spAutoFit/>
          </a:bodyPr>
          <a:lstStyle/>
          <a:p>
            <a:pPr algn="r"/>
            <a:r>
              <a:rPr sz="1000" b="0" i="0">
                <a:solidFill>
                  <a:srgbClr val="64748B"/>
                </a:solidFill>
                <a:latin typeface="Calibri"/>
              </a:rPr>
              <a:t>3</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4748B"/>
                </a:solidFill>
                <a:latin typeface="Calibri"/>
              </a:rPr>
              <a:t>Cloud-Native Parallel Image Processing · BECE355L</a:t>
            </a:r>
          </a:p>
        </p:txBody>
      </p:sp>
      <p:pic>
        <p:nvPicPr>
          <p:cNvPr id="6" name="Picture 5" descr="fig_architecture_v2.png"/>
          <p:cNvPicPr>
            <a:picLocks noChangeAspect="1"/>
          </p:cNvPicPr>
          <p:nvPr/>
        </p:nvPicPr>
        <p:blipFill>
          <a:blip r:embed="rId2"/>
          <a:stretch>
            <a:fillRect/>
          </a:stretch>
        </p:blipFill>
        <p:spPr>
          <a:xfrm>
            <a:off x="457200" y="1923502"/>
            <a:ext cx="7589520" cy="3788236"/>
          </a:xfrm>
          <a:prstGeom prst="rect">
            <a:avLst/>
          </a:prstGeom>
        </p:spPr>
      </p:pic>
      <p:sp>
        <p:nvSpPr>
          <p:cNvPr id="7" name="TextBox 6"/>
          <p:cNvSpPr txBox="1"/>
          <p:nvPr/>
        </p:nvSpPr>
        <p:spPr>
          <a:xfrm>
            <a:off x="8321040" y="1463040"/>
            <a:ext cx="3474720" cy="4846320"/>
          </a:xfrm>
          <a:prstGeom prst="rect">
            <a:avLst/>
          </a:prstGeom>
          <a:noFill/>
        </p:spPr>
        <p:txBody>
          <a:bodyPr wrap="square" lIns="0" rIns="0" tIns="0" bIns="0">
            <a:spAutoFit/>
          </a:bodyPr>
          <a:lstStyle/>
          <a:p>
            <a:pPr>
              <a:spcAft>
                <a:spcPts val="1000"/>
              </a:spcAft>
            </a:pPr>
            <a:r>
              <a:rPr sz="1500">
                <a:solidFill>
                  <a:srgbClr val="0D9488"/>
                </a:solidFill>
                <a:latin typeface="Calibri"/>
              </a:rPr>
              <a:t>▸  </a:t>
            </a:r>
            <a:r>
              <a:rPr b="1" sz="1500">
                <a:solidFill>
                  <a:srgbClr val="1F2937"/>
                </a:solidFill>
                <a:latin typeface="Calibri"/>
              </a:rPr>
              <a:t>Bytes in S3 / MinIO:</a:t>
            </a:r>
            <a:r>
              <a:rPr sz="1500">
                <a:solidFill>
                  <a:srgbClr val="1F2937"/>
                </a:solidFill>
                <a:latin typeface="Calibri"/>
              </a:rPr>
              <a:t> input, tiles, results, output</a:t>
            </a:r>
          </a:p>
          <a:p>
            <a:pPr>
              <a:spcAft>
                <a:spcPts val="1000"/>
              </a:spcAft>
            </a:pPr>
            <a:r>
              <a:rPr sz="1500">
                <a:solidFill>
                  <a:srgbClr val="0D9488"/>
                </a:solidFill>
                <a:latin typeface="Calibri"/>
              </a:rPr>
              <a:t>▸  </a:t>
            </a:r>
            <a:r>
              <a:rPr b="1" sz="1500">
                <a:solidFill>
                  <a:srgbClr val="1F2937"/>
                </a:solidFill>
                <a:latin typeface="Calibri"/>
              </a:rPr>
              <a:t>Redis = control plane:</a:t>
            </a:r>
            <a:r>
              <a:rPr sz="1500">
                <a:solidFill>
                  <a:srgbClr val="1F2937"/>
                </a:solidFill>
                <a:latin typeface="Calibri"/>
              </a:rPr>
              <a:t> task IDs, leases, costs, work-seconds</a:t>
            </a:r>
          </a:p>
          <a:p>
            <a:pPr>
              <a:spcAft>
                <a:spcPts val="1000"/>
              </a:spcAft>
            </a:pPr>
            <a:r>
              <a:rPr sz="1500">
                <a:solidFill>
                  <a:srgbClr val="0D9488"/>
                </a:solidFill>
                <a:latin typeface="Calibri"/>
              </a:rPr>
              <a:t>▸  </a:t>
            </a:r>
            <a:r>
              <a:rPr b="1" sz="1500">
                <a:solidFill>
                  <a:srgbClr val="1F2937"/>
                </a:solidFill>
                <a:latin typeface="Calibri"/>
              </a:rPr>
              <a:t>API plans every job:</a:t>
            </a:r>
            <a:r>
              <a:rPr sz="1500">
                <a:solidFill>
                  <a:srgbClr val="1F2937"/>
                </a:solidFill>
                <a:latin typeface="Calibri"/>
              </a:rPr>
              <a:t> local or distributed, tile size, workers</a:t>
            </a:r>
          </a:p>
          <a:p>
            <a:pPr>
              <a:spcAft>
                <a:spcPts val="1000"/>
              </a:spcAft>
            </a:pPr>
            <a:r>
              <a:rPr sz="1500">
                <a:solidFill>
                  <a:srgbClr val="0D9488"/>
                </a:solidFill>
                <a:latin typeface="Calibri"/>
              </a:rPr>
              <a:t>▸  </a:t>
            </a:r>
            <a:r>
              <a:rPr b="1" sz="1500">
                <a:solidFill>
                  <a:srgbClr val="1F2937"/>
                </a:solidFill>
                <a:latin typeface="Calibri"/>
              </a:rPr>
              <a:t>Workers:</a:t>
            </a:r>
            <a:r>
              <a:rPr sz="1500">
                <a:solidFill>
                  <a:srgbClr val="1F2937"/>
                </a:solidFill>
                <a:latin typeface="Calibri"/>
              </a:rPr>
              <a:t> OpenCV or ONNX Runtime, stateless</a:t>
            </a:r>
          </a:p>
          <a:p>
            <a:pPr>
              <a:spcAft>
                <a:spcPts val="1000"/>
              </a:spcAft>
            </a:pPr>
            <a:r>
              <a:rPr sz="1500">
                <a:solidFill>
                  <a:srgbClr val="0D9488"/>
                </a:solidFill>
                <a:latin typeface="Calibri"/>
              </a:rPr>
              <a:t>▸  </a:t>
            </a:r>
            <a:r>
              <a:rPr b="1" sz="1500">
                <a:solidFill>
                  <a:srgbClr val="1F2937"/>
                </a:solidFill>
                <a:latin typeface="Calibri"/>
              </a:rPr>
              <a:t>One image,</a:t>
            </a:r>
            <a:r>
              <a:rPr sz="1500">
                <a:solidFill>
                  <a:srgbClr val="1F2937"/>
                </a:solidFill>
                <a:latin typeface="Calibri"/>
              </a:rPr>
              <a:t> three ways to run: local · Compose · Kubernetes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badge 1"/>
          <p:cNvSpPr/>
          <p:nvPr/>
        </p:nvSpPr>
        <p:spPr>
          <a:xfrm>
            <a:off x="548640" y="411480"/>
            <a:ext cx="566928" cy="5669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1</a:t>
            </a:r>
          </a:p>
        </p:txBody>
      </p:sp>
      <p:sp>
        <p:nvSpPr>
          <p:cNvPr id="3" name="TextBox 2"/>
          <p:cNvSpPr txBox="1"/>
          <p:nvPr/>
        </p:nvSpPr>
        <p:spPr>
          <a:xfrm>
            <a:off x="1280160" y="347472"/>
            <a:ext cx="9144000" cy="274320"/>
          </a:xfrm>
          <a:prstGeom prst="rect">
            <a:avLst/>
          </a:prstGeom>
          <a:noFill/>
        </p:spPr>
        <p:txBody>
          <a:bodyPr wrap="square" lIns="0" rIns="0" tIns="0" bIns="0" anchor="t">
            <a:spAutoFit/>
          </a:bodyPr>
          <a:lstStyle/>
          <a:p>
            <a:pPr algn="l"/>
            <a:r>
              <a:rPr sz="1100" b="1" i="0">
                <a:solidFill>
                  <a:srgbClr val="0D9488"/>
                </a:solidFill>
                <a:latin typeface="Calibri"/>
              </a:rPr>
              <a:t>UPGRADE 1 · OBJECT STORAGE</a:t>
            </a:r>
          </a:p>
        </p:txBody>
      </p:sp>
      <p:sp>
        <p:nvSpPr>
          <p:cNvPr id="4" name="Title"/>
          <p:cNvSpPr txBox="1"/>
          <p:nvPr/>
        </p:nvSpPr>
        <p:spPr>
          <a:xfrm>
            <a:off x="1280160" y="566928"/>
            <a:ext cx="10515600" cy="640080"/>
          </a:xfrm>
          <a:prstGeom prst="rect">
            <a:avLst/>
          </a:prstGeom>
          <a:noFill/>
        </p:spPr>
        <p:txBody>
          <a:bodyPr wrap="square" lIns="0" rIns="0" tIns="0" bIns="0" anchor="t">
            <a:spAutoFit/>
          </a:bodyPr>
          <a:lstStyle/>
          <a:p>
            <a:pPr algn="l"/>
            <a:r>
              <a:rPr sz="2800" b="1" i="0">
                <a:solidFill>
                  <a:srgbClr val="0F2A44"/>
                </a:solidFill>
                <a:latin typeface="Cambria"/>
              </a:rPr>
              <a:t>Bytes to object storage, IDs to Redis</a:t>
            </a:r>
          </a:p>
        </p:txBody>
      </p:sp>
      <p:sp>
        <p:nvSpPr>
          <p:cNvPr id="5" name="TextBox 4"/>
          <p:cNvSpPr txBox="1"/>
          <p:nvPr/>
        </p:nvSpPr>
        <p:spPr>
          <a:xfrm>
            <a:off x="11155680" y="6446520"/>
            <a:ext cx="731520" cy="274320"/>
          </a:xfrm>
          <a:prstGeom prst="rect">
            <a:avLst/>
          </a:prstGeom>
          <a:noFill/>
        </p:spPr>
        <p:txBody>
          <a:bodyPr wrap="square" lIns="0" rIns="0" tIns="0" bIns="0" anchor="t">
            <a:spAutoFit/>
          </a:bodyPr>
          <a:lstStyle/>
          <a:p>
            <a:pPr algn="r"/>
            <a:r>
              <a:rPr sz="1000" b="0" i="0">
                <a:solidFill>
                  <a:srgbClr val="64748B"/>
                </a:solidFill>
                <a:latin typeface="Calibri"/>
              </a:rPr>
              <a:t>4</a:t>
            </a:r>
          </a:p>
        </p:txBody>
      </p:sp>
      <p:sp>
        <p:nvSpPr>
          <p:cNvPr id="6" name="TextBox 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4748B"/>
                </a:solidFill>
                <a:latin typeface="Calibri"/>
              </a:rPr>
              <a:t>Cloud-Native Parallel Image Processing · BECE355L</a:t>
            </a:r>
          </a:p>
        </p:txBody>
      </p:sp>
      <p:sp>
        <p:nvSpPr>
          <p:cNvPr id="7" name="card Claim-check data plane"/>
          <p:cNvSpPr/>
          <p:nvPr/>
        </p:nvSpPr>
        <p:spPr>
          <a:xfrm>
            <a:off x="548640" y="1463040"/>
            <a:ext cx="5486400" cy="2240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63040"/>
            <a:ext cx="64008" cy="224028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27632"/>
            <a:ext cx="5120640" cy="365760"/>
          </a:xfrm>
          <a:prstGeom prst="rect">
            <a:avLst/>
          </a:prstGeom>
          <a:noFill/>
        </p:spPr>
        <p:txBody>
          <a:bodyPr wrap="square" lIns="0" rIns="0" tIns="0" bIns="0" anchor="t">
            <a:spAutoFit/>
          </a:bodyPr>
          <a:lstStyle/>
          <a:p>
            <a:pPr algn="l"/>
            <a:r>
              <a:rPr sz="1600" b="1" i="0">
                <a:solidFill>
                  <a:srgbClr val="0F2A44"/>
                </a:solidFill>
                <a:latin typeface="Cambria"/>
              </a:rPr>
              <a:t>Claim-check data plane</a:t>
            </a:r>
          </a:p>
        </p:txBody>
      </p:sp>
      <p:sp>
        <p:nvSpPr>
          <p:cNvPr id="10" name="TextBox 9"/>
          <p:cNvSpPr txBox="1"/>
          <p:nvPr/>
        </p:nvSpPr>
        <p:spPr>
          <a:xfrm>
            <a:off x="777240" y="2029968"/>
            <a:ext cx="5120640" cy="1600200"/>
          </a:xfrm>
          <a:prstGeom prst="rect">
            <a:avLst/>
          </a:prstGeom>
          <a:noFill/>
        </p:spPr>
        <p:txBody>
          <a:bodyPr wrap="square" lIns="0" rIns="0" tIns="0" bIns="0" anchor="t">
            <a:spAutoFit/>
          </a:bodyPr>
          <a:lstStyle/>
          <a:p>
            <a:pPr algn="l"/>
            <a:r>
              <a:rPr sz="1400" b="0" i="0">
                <a:solidFill>
                  <a:srgbClr val="1F2937"/>
                </a:solidFill>
                <a:latin typeface="Calibri"/>
              </a:rPr>
              <a:t>Tiles go to jobs/&lt;id&gt;/tiles/ before any task is queued; a task is just an ID.
Same boto3 code for MinIO (local) and Amazon S3.
Results: 307 redirect to a presigned URL, bytes never pass the API.
Outputs &gt; 150 MP stream into a tiled BigTIFF.</a:t>
            </a:r>
          </a:p>
        </p:txBody>
      </p:sp>
      <p:sp>
        <p:nvSpPr>
          <p:cNvPr id="11" name="card Security by design (AWS templates)"/>
          <p:cNvSpPr/>
          <p:nvPr/>
        </p:nvSpPr>
        <p:spPr>
          <a:xfrm>
            <a:off x="548640" y="3886200"/>
            <a:ext cx="5486400" cy="2240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886200"/>
            <a:ext cx="64008" cy="2240280"/>
          </a:xfrm>
          <a:prstGeom prst="rect">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050792"/>
            <a:ext cx="5120640" cy="365760"/>
          </a:xfrm>
          <a:prstGeom prst="rect">
            <a:avLst/>
          </a:prstGeom>
          <a:noFill/>
        </p:spPr>
        <p:txBody>
          <a:bodyPr wrap="square" lIns="0" rIns="0" tIns="0" bIns="0" anchor="t">
            <a:spAutoFit/>
          </a:bodyPr>
          <a:lstStyle/>
          <a:p>
            <a:pPr algn="l"/>
            <a:r>
              <a:rPr sz="1600" b="1" i="0">
                <a:solidFill>
                  <a:srgbClr val="0F2A44"/>
                </a:solidFill>
                <a:latin typeface="Cambria"/>
              </a:rPr>
              <a:t>Security by design (AWS templates)</a:t>
            </a:r>
          </a:p>
        </p:txBody>
      </p:sp>
      <p:sp>
        <p:nvSpPr>
          <p:cNvPr id="14" name="TextBox 13"/>
          <p:cNvSpPr txBox="1"/>
          <p:nvPr/>
        </p:nvSpPr>
        <p:spPr>
          <a:xfrm>
            <a:off x="777240" y="4453128"/>
            <a:ext cx="5120640" cy="1600200"/>
          </a:xfrm>
          <a:prstGeom prst="rect">
            <a:avLst/>
          </a:prstGeom>
          <a:noFill/>
        </p:spPr>
        <p:txBody>
          <a:bodyPr wrap="square" lIns="0" rIns="0" tIns="0" bIns="0" anchor="t">
            <a:spAutoFit/>
          </a:bodyPr>
          <a:lstStyle/>
          <a:p>
            <a:pPr algn="l"/>
            <a:r>
              <a:rPr sz="1400" b="0" i="0">
                <a:solidFill>
                  <a:srgbClr val="1F2937"/>
                </a:solidFill>
                <a:latin typeface="Calibri"/>
              </a:rPr>
              <a:t>Least-privilege IAM: API puts tiles; workers get tiles, put results.
SSE-KMS, Block Public Access, TLS-only bucket policy.
IRSA: pods get roles, no keys in containers.
Lifecycle rule expires job data after 1 day.</a:t>
            </a:r>
          </a:p>
        </p:txBody>
      </p:sp>
      <p:sp>
        <p:nvSpPr>
          <p:cNvPr id="15" name="TextBox 14"/>
          <p:cNvSpPr txBox="1"/>
          <p:nvPr/>
        </p:nvSpPr>
        <p:spPr>
          <a:xfrm>
            <a:off x="6675120" y="1554480"/>
            <a:ext cx="5029200" cy="731520"/>
          </a:xfrm>
          <a:prstGeom prst="rect">
            <a:avLst/>
          </a:prstGeom>
          <a:noFill/>
        </p:spPr>
        <p:txBody>
          <a:bodyPr wrap="square" lIns="0" rIns="0" tIns="0" bIns="0" anchor="t">
            <a:spAutoFit/>
          </a:bodyPr>
          <a:lstStyle/>
          <a:p>
            <a:pPr algn="l"/>
            <a:r>
              <a:rPr sz="3600" b="1" i="0">
                <a:solidFill>
                  <a:srgbClr val="0D9488"/>
                </a:solidFill>
                <a:latin typeface="Cambria"/>
              </a:rPr>
              <a:t>226 MB → 54 KB</a:t>
            </a:r>
          </a:p>
        </p:txBody>
      </p:sp>
      <p:sp>
        <p:nvSpPr>
          <p:cNvPr id="16" name="TextBox 15"/>
          <p:cNvSpPr txBox="1"/>
          <p:nvPr/>
        </p:nvSpPr>
        <p:spPr>
          <a:xfrm>
            <a:off x="6675120" y="2331720"/>
            <a:ext cx="5029200" cy="731520"/>
          </a:xfrm>
          <a:prstGeom prst="rect">
            <a:avLst/>
          </a:prstGeom>
          <a:noFill/>
        </p:spPr>
        <p:txBody>
          <a:bodyPr wrap="square" lIns="0" rIns="0" tIns="0" bIns="0" anchor="t">
            <a:spAutoFit/>
          </a:bodyPr>
          <a:lstStyle/>
          <a:p>
            <a:pPr algn="l"/>
            <a:r>
              <a:rPr sz="1300" b="0" i="0">
                <a:solidFill>
                  <a:srgbClr val="64748B"/>
                </a:solidFill>
                <a:latin typeface="Calibri"/>
              </a:rPr>
              <a:t>Redis memory per 8192² job</a:t>
            </a:r>
          </a:p>
        </p:txBody>
      </p:sp>
      <p:sp>
        <p:nvSpPr>
          <p:cNvPr id="17" name="TextBox 16"/>
          <p:cNvSpPr txBox="1"/>
          <p:nvPr/>
        </p:nvSpPr>
        <p:spPr>
          <a:xfrm>
            <a:off x="6675120" y="3108960"/>
            <a:ext cx="5029200" cy="731520"/>
          </a:xfrm>
          <a:prstGeom prst="rect">
            <a:avLst/>
          </a:prstGeom>
          <a:noFill/>
        </p:spPr>
        <p:txBody>
          <a:bodyPr wrap="square" lIns="0" rIns="0" tIns="0" bIns="0" anchor="t">
            <a:spAutoFit/>
          </a:bodyPr>
          <a:lstStyle/>
          <a:p>
            <a:pPr algn="l"/>
            <a:r>
              <a:rPr sz="3600" b="1" i="0">
                <a:solidFill>
                  <a:srgbClr val="0D9488"/>
                </a:solidFill>
                <a:latin typeface="Cambria"/>
              </a:rPr>
              <a:t>2 → 12+</a:t>
            </a:r>
          </a:p>
        </p:txBody>
      </p:sp>
      <p:sp>
        <p:nvSpPr>
          <p:cNvPr id="18" name="TextBox 17"/>
          <p:cNvSpPr txBox="1"/>
          <p:nvPr/>
        </p:nvSpPr>
        <p:spPr>
          <a:xfrm>
            <a:off x="6675120" y="3886200"/>
            <a:ext cx="5029200" cy="731520"/>
          </a:xfrm>
          <a:prstGeom prst="rect">
            <a:avLst/>
          </a:prstGeom>
          <a:noFill/>
        </p:spPr>
        <p:txBody>
          <a:bodyPr wrap="square" lIns="0" rIns="0" tIns="0" bIns="0" anchor="t">
            <a:spAutoFit/>
          </a:bodyPr>
          <a:lstStyle/>
          <a:p>
            <a:pPr algn="l"/>
            <a:r>
              <a:rPr sz="1300" b="0" i="0">
                <a:solidFill>
                  <a:srgbClr val="64748B"/>
                </a:solidFill>
                <a:latin typeface="Calibri"/>
              </a:rPr>
              <a:t>concurrent 8192² jobs in 1 GB Redis (all 12 tried fit)</a:t>
            </a:r>
          </a:p>
        </p:txBody>
      </p:sp>
      <p:sp>
        <p:nvSpPr>
          <p:cNvPr id="19" name="TextBox 18"/>
          <p:cNvSpPr txBox="1"/>
          <p:nvPr/>
        </p:nvSpPr>
        <p:spPr>
          <a:xfrm>
            <a:off x="6675120" y="4663440"/>
            <a:ext cx="5029200" cy="731520"/>
          </a:xfrm>
          <a:prstGeom prst="rect">
            <a:avLst/>
          </a:prstGeom>
          <a:noFill/>
        </p:spPr>
        <p:txBody>
          <a:bodyPr wrap="square" lIns="0" rIns="0" tIns="0" bIns="0" anchor="t">
            <a:spAutoFit/>
          </a:bodyPr>
          <a:lstStyle/>
          <a:p>
            <a:pPr algn="l"/>
            <a:r>
              <a:rPr sz="3600" b="1" i="0">
                <a:solidFill>
                  <a:srgbClr val="D97706"/>
                </a:solidFill>
                <a:latin typeface="Cambria"/>
              </a:rPr>
              <a:t>+1.3 ms</a:t>
            </a:r>
          </a:p>
        </p:txBody>
      </p:sp>
      <p:sp>
        <p:nvSpPr>
          <p:cNvPr id="20" name="TextBox 19"/>
          <p:cNvSpPr txBox="1"/>
          <p:nvPr/>
        </p:nvSpPr>
        <p:spPr>
          <a:xfrm>
            <a:off x="6675120" y="5440680"/>
            <a:ext cx="5029200" cy="731520"/>
          </a:xfrm>
          <a:prstGeom prst="rect">
            <a:avLst/>
          </a:prstGeom>
          <a:noFill/>
        </p:spPr>
        <p:txBody>
          <a:bodyPr wrap="square" lIns="0" rIns="0" tIns="0" bIns="0" anchor="t">
            <a:spAutoFit/>
          </a:bodyPr>
          <a:lstStyle/>
          <a:p>
            <a:pPr algn="l"/>
            <a:r>
              <a:rPr sz="1300" b="0" i="0">
                <a:solidFill>
                  <a:srgbClr val="64748B"/>
                </a:solidFill>
                <a:latin typeface="Calibri"/>
              </a:rPr>
              <a:t>I/O per tile — the price (7.2 → 8.6 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badge 2"/>
          <p:cNvSpPr/>
          <p:nvPr/>
        </p:nvSpPr>
        <p:spPr>
          <a:xfrm>
            <a:off x="548640" y="411480"/>
            <a:ext cx="566928" cy="5669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2</a:t>
            </a:r>
          </a:p>
        </p:txBody>
      </p:sp>
      <p:sp>
        <p:nvSpPr>
          <p:cNvPr id="3" name="TextBox 2"/>
          <p:cNvSpPr txBox="1"/>
          <p:nvPr/>
        </p:nvSpPr>
        <p:spPr>
          <a:xfrm>
            <a:off x="1280160" y="347472"/>
            <a:ext cx="9144000" cy="274320"/>
          </a:xfrm>
          <a:prstGeom prst="rect">
            <a:avLst/>
          </a:prstGeom>
          <a:noFill/>
        </p:spPr>
        <p:txBody>
          <a:bodyPr wrap="square" lIns="0" rIns="0" tIns="0" bIns="0" anchor="t">
            <a:spAutoFit/>
          </a:bodyPr>
          <a:lstStyle/>
          <a:p>
            <a:pPr algn="l"/>
            <a:r>
              <a:rPr sz="1100" b="1" i="0">
                <a:solidFill>
                  <a:srgbClr val="0D9488"/>
                </a:solidFill>
                <a:latin typeface="Calibri"/>
              </a:rPr>
              <a:t>UPGRADE 2 · NEURAL OPS</a:t>
            </a:r>
          </a:p>
        </p:txBody>
      </p:sp>
      <p:sp>
        <p:nvSpPr>
          <p:cNvPr id="4" name="Title"/>
          <p:cNvSpPr txBox="1"/>
          <p:nvPr/>
        </p:nvSpPr>
        <p:spPr>
          <a:xfrm>
            <a:off x="1280160" y="566928"/>
            <a:ext cx="10515600" cy="640080"/>
          </a:xfrm>
          <a:prstGeom prst="rect">
            <a:avLst/>
          </a:prstGeom>
          <a:noFill/>
        </p:spPr>
        <p:txBody>
          <a:bodyPr wrap="square" lIns="0" rIns="0" tIns="0" bIns="0" anchor="t">
            <a:spAutoFit/>
          </a:bodyPr>
          <a:lstStyle/>
          <a:p>
            <a:pPr algn="l"/>
            <a:r>
              <a:rPr sz="2800" b="1" i="0">
                <a:solidFill>
                  <a:srgbClr val="0F2A44"/>
                </a:solidFill>
                <a:latin typeface="Cambria"/>
              </a:rPr>
              <a:t>Deep-learning operations: HED edges and Real-ESRGAN ×4</a:t>
            </a:r>
          </a:p>
        </p:txBody>
      </p:sp>
      <p:sp>
        <p:nvSpPr>
          <p:cNvPr id="5" name="TextBox 4"/>
          <p:cNvSpPr txBox="1"/>
          <p:nvPr/>
        </p:nvSpPr>
        <p:spPr>
          <a:xfrm>
            <a:off x="11155680" y="6446520"/>
            <a:ext cx="731520" cy="274320"/>
          </a:xfrm>
          <a:prstGeom prst="rect">
            <a:avLst/>
          </a:prstGeom>
          <a:noFill/>
        </p:spPr>
        <p:txBody>
          <a:bodyPr wrap="square" lIns="0" rIns="0" tIns="0" bIns="0" anchor="t">
            <a:spAutoFit/>
          </a:bodyPr>
          <a:lstStyle/>
          <a:p>
            <a:pPr algn="r"/>
            <a:r>
              <a:rPr sz="1000" b="0" i="0">
                <a:solidFill>
                  <a:srgbClr val="64748B"/>
                </a:solidFill>
                <a:latin typeface="Calibri"/>
              </a:rPr>
              <a:t>5</a:t>
            </a:r>
          </a:p>
        </p:txBody>
      </p:sp>
      <p:sp>
        <p:nvSpPr>
          <p:cNvPr id="6" name="TextBox 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4748B"/>
                </a:solidFill>
                <a:latin typeface="Calibri"/>
              </a:rPr>
              <a:t>Cloud-Native Parallel Image Processing · BECE355L</a:t>
            </a:r>
          </a:p>
        </p:txBody>
      </p:sp>
      <p:pic>
        <p:nvPicPr>
          <p:cNvPr id="7" name="Picture 6" descr="fig_canny_vs_hed.png"/>
          <p:cNvPicPr>
            <a:picLocks noChangeAspect="1"/>
          </p:cNvPicPr>
          <p:nvPr/>
        </p:nvPicPr>
        <p:blipFill>
          <a:blip r:embed="rId2"/>
          <a:stretch>
            <a:fillRect/>
          </a:stretch>
        </p:blipFill>
        <p:spPr>
          <a:xfrm>
            <a:off x="457200" y="1743759"/>
            <a:ext cx="11247120" cy="2273202"/>
          </a:xfrm>
          <a:prstGeom prst="rect">
            <a:avLst/>
          </a:prstGeom>
        </p:spPr>
      </p:pic>
      <p:sp>
        <p:nvSpPr>
          <p:cNvPr id="8" name="TextBox 7"/>
          <p:cNvSpPr txBox="1"/>
          <p:nvPr/>
        </p:nvSpPr>
        <p:spPr>
          <a:xfrm>
            <a:off x="548640" y="4617720"/>
            <a:ext cx="11155680" cy="1737360"/>
          </a:xfrm>
          <a:prstGeom prst="rect">
            <a:avLst/>
          </a:prstGeom>
          <a:noFill/>
        </p:spPr>
        <p:txBody>
          <a:bodyPr wrap="square" lIns="0" rIns="0" tIns="0" bIns="0">
            <a:spAutoFit/>
          </a:bodyPr>
          <a:lstStyle/>
          <a:p>
            <a:pPr>
              <a:spcAft>
                <a:spcPts val="600"/>
              </a:spcAft>
            </a:pPr>
            <a:r>
              <a:rPr sz="1500">
                <a:solidFill>
                  <a:srgbClr val="0D9488"/>
                </a:solidFill>
                <a:latin typeface="Calibri"/>
              </a:rPr>
              <a:t>▸  </a:t>
            </a:r>
            <a:r>
              <a:rPr b="1" sz="1500">
                <a:solidFill>
                  <a:srgbClr val="1F2937"/>
                </a:solidFill>
                <a:latin typeface="Calibri"/>
              </a:rPr>
              <a:t>HED (VGG-16, 5 side outputs):</a:t>
            </a:r>
            <a:r>
              <a:rPr sz="1500">
                <a:solidFill>
                  <a:srgbClr val="1F2937"/>
                </a:solidFill>
                <a:latin typeface="Calibri"/>
              </a:rPr>
              <a:t> we wrote a Caffe→ONNX converter because OpenCV 5 dropped Caffe import</a:t>
            </a:r>
          </a:p>
          <a:p>
            <a:pPr>
              <a:spcAft>
                <a:spcPts val="600"/>
              </a:spcAft>
            </a:pPr>
            <a:r>
              <a:rPr sz="1500">
                <a:solidFill>
                  <a:srgbClr val="0D9488"/>
                </a:solidFill>
                <a:latin typeface="Calibri"/>
              </a:rPr>
              <a:t>▸  </a:t>
            </a:r>
            <a:r>
              <a:rPr b="1" sz="1500">
                <a:solidFill>
                  <a:srgbClr val="1F2937"/>
                </a:solidFill>
                <a:latin typeface="Calibri"/>
              </a:rPr>
              <a:t>Real-ESRGAN realesr-general-x4v3:</a:t>
            </a:r>
            <a:r>
              <a:rPr sz="1500">
                <a:solidFill>
                  <a:srgbClr val="1F2937"/>
                </a:solidFill>
                <a:latin typeface="Calibri"/>
              </a:rPr>
              <a:t> ×4 output, so the stitcher scales tile coordinates</a:t>
            </a:r>
          </a:p>
          <a:p>
            <a:pPr>
              <a:spcAft>
                <a:spcPts val="600"/>
              </a:spcAft>
            </a:pPr>
            <a:r>
              <a:rPr sz="1500">
                <a:solidFill>
                  <a:srgbClr val="0D9488"/>
                </a:solidFill>
                <a:latin typeface="Calibri"/>
              </a:rPr>
              <a:t>▸  </a:t>
            </a:r>
            <a:r>
              <a:rPr b="1" sz="1500">
                <a:solidFill>
                  <a:srgbClr val="1F2937"/>
                </a:solidFill>
                <a:latin typeface="Calibri"/>
              </a:rPr>
              <a:t>ONNX Runtime, 1 thread per process:</a:t>
            </a:r>
            <a:r>
              <a:rPr sz="1500">
                <a:solidFill>
                  <a:srgbClr val="1F2937"/>
                </a:solidFill>
                <a:latin typeface="Calibri"/>
              </a:rPr>
              <a:t> all parallelism comes from the framework, a fair comparison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badge 2"/>
          <p:cNvSpPr/>
          <p:nvPr/>
        </p:nvSpPr>
        <p:spPr>
          <a:xfrm>
            <a:off x="548640" y="411480"/>
            <a:ext cx="566928" cy="5669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2</a:t>
            </a:r>
          </a:p>
        </p:txBody>
      </p:sp>
      <p:sp>
        <p:nvSpPr>
          <p:cNvPr id="3" name="TextBox 2"/>
          <p:cNvSpPr txBox="1"/>
          <p:nvPr/>
        </p:nvSpPr>
        <p:spPr>
          <a:xfrm>
            <a:off x="1280160" y="347472"/>
            <a:ext cx="9144000" cy="274320"/>
          </a:xfrm>
          <a:prstGeom prst="rect">
            <a:avLst/>
          </a:prstGeom>
          <a:noFill/>
        </p:spPr>
        <p:txBody>
          <a:bodyPr wrap="square" lIns="0" rIns="0" tIns="0" bIns="0" anchor="t">
            <a:spAutoFit/>
          </a:bodyPr>
          <a:lstStyle/>
          <a:p>
            <a:pPr algn="l"/>
            <a:r>
              <a:rPr sz="1100" b="1" i="0">
                <a:solidFill>
                  <a:srgbClr val="0D9488"/>
                </a:solidFill>
                <a:latin typeface="Calibri"/>
              </a:rPr>
              <a:t>UPGRADE 2 · HALO</a:t>
            </a:r>
          </a:p>
        </p:txBody>
      </p:sp>
      <p:sp>
        <p:nvSpPr>
          <p:cNvPr id="4" name="Title"/>
          <p:cNvSpPr txBox="1"/>
          <p:nvPr/>
        </p:nvSpPr>
        <p:spPr>
          <a:xfrm>
            <a:off x="1280160" y="566928"/>
            <a:ext cx="10515600" cy="640080"/>
          </a:xfrm>
          <a:prstGeom prst="rect">
            <a:avLst/>
          </a:prstGeom>
          <a:noFill/>
        </p:spPr>
        <p:txBody>
          <a:bodyPr wrap="square" lIns="0" rIns="0" tIns="0" bIns="0" anchor="t">
            <a:spAutoFit/>
          </a:bodyPr>
          <a:lstStyle/>
          <a:p>
            <a:pPr algn="l"/>
            <a:r>
              <a:rPr sz="2800" b="1" i="0">
                <a:solidFill>
                  <a:srgbClr val="0F2A44"/>
                </a:solidFill>
                <a:latin typeface="Cambria"/>
              </a:rPr>
              <a:t>Calibrating the halo from the effective receptive field</a:t>
            </a:r>
          </a:p>
        </p:txBody>
      </p:sp>
      <p:sp>
        <p:nvSpPr>
          <p:cNvPr id="5" name="TextBox 4"/>
          <p:cNvSpPr txBox="1"/>
          <p:nvPr/>
        </p:nvSpPr>
        <p:spPr>
          <a:xfrm>
            <a:off x="11155680" y="6446520"/>
            <a:ext cx="731520" cy="274320"/>
          </a:xfrm>
          <a:prstGeom prst="rect">
            <a:avLst/>
          </a:prstGeom>
          <a:noFill/>
        </p:spPr>
        <p:txBody>
          <a:bodyPr wrap="square" lIns="0" rIns="0" tIns="0" bIns="0" anchor="t">
            <a:spAutoFit/>
          </a:bodyPr>
          <a:lstStyle/>
          <a:p>
            <a:pPr algn="r"/>
            <a:r>
              <a:rPr sz="1000" b="0" i="0">
                <a:solidFill>
                  <a:srgbClr val="64748B"/>
                </a:solidFill>
                <a:latin typeface="Calibri"/>
              </a:rPr>
              <a:t>6</a:t>
            </a:r>
          </a:p>
        </p:txBody>
      </p:sp>
      <p:sp>
        <p:nvSpPr>
          <p:cNvPr id="6" name="TextBox 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4748B"/>
                </a:solidFill>
                <a:latin typeface="Calibri"/>
              </a:rPr>
              <a:t>Cloud-Native Parallel Image Processing · BECE355L</a:t>
            </a:r>
          </a:p>
        </p:txBody>
      </p:sp>
      <p:graphicFrame>
        <p:nvGraphicFramePr>
          <p:cNvPr id="7" name="Chart 6"/>
          <p:cNvGraphicFramePr>
            <a:graphicFrameLocks noGrp="1"/>
          </p:cNvGraphicFramePr>
          <p:nvPr/>
        </p:nvGraphicFramePr>
        <p:xfrm>
          <a:off x="457200" y="1371600"/>
          <a:ext cx="6583680" cy="4846320"/>
        </p:xfrm>
        <a:graphic>
          <a:graphicData uri="http://schemas.openxmlformats.org/drawingml/2006/chart">
            <c:chart xmlns:c="http://schemas.openxmlformats.org/drawingml/2006/chart" r:id="rId2"/>
          </a:graphicData>
        </a:graphic>
      </p:graphicFrame>
      <p:sp>
        <p:nvSpPr>
          <p:cNvPr id="8" name="TextBox 7"/>
          <p:cNvSpPr txBox="1"/>
          <p:nvPr/>
        </p:nvSpPr>
        <p:spPr>
          <a:xfrm>
            <a:off x="7406640" y="1463040"/>
            <a:ext cx="4389120" cy="731520"/>
          </a:xfrm>
          <a:prstGeom prst="rect">
            <a:avLst/>
          </a:prstGeom>
          <a:noFill/>
        </p:spPr>
        <p:txBody>
          <a:bodyPr wrap="square" lIns="0" rIns="0" tIns="0" bIns="0" anchor="t">
            <a:spAutoFit/>
          </a:bodyPr>
          <a:lstStyle/>
          <a:p>
            <a:pPr algn="l"/>
            <a:r>
              <a:rPr sz="3400" b="1" i="0">
                <a:solidFill>
                  <a:srgbClr val="0D9488"/>
                </a:solidFill>
                <a:latin typeface="Cambria"/>
              </a:rPr>
              <a:t>98 → 80 px</a:t>
            </a:r>
          </a:p>
        </p:txBody>
      </p:sp>
      <p:sp>
        <p:nvSpPr>
          <p:cNvPr id="9" name="TextBox 8"/>
          <p:cNvSpPr txBox="1"/>
          <p:nvPr/>
        </p:nvSpPr>
        <p:spPr>
          <a:xfrm>
            <a:off x="7406640" y="2240280"/>
            <a:ext cx="4389120" cy="731520"/>
          </a:xfrm>
          <a:prstGeom prst="rect">
            <a:avLst/>
          </a:prstGeom>
          <a:noFill/>
        </p:spPr>
        <p:txBody>
          <a:bodyPr wrap="square" lIns="0" rIns="0" tIns="0" bIns="0" anchor="t">
            <a:spAutoFit/>
          </a:bodyPr>
          <a:lstStyle/>
          <a:p>
            <a:pPr algn="l"/>
            <a:r>
              <a:rPr sz="1300" b="0" i="0">
                <a:solidFill>
                  <a:srgbClr val="64748B"/>
                </a:solidFill>
                <a:latin typeface="Calibri"/>
              </a:rPr>
              <a:t>HED halo: extra compute 252 % → 164 %</a:t>
            </a:r>
          </a:p>
        </p:txBody>
      </p:sp>
      <p:sp>
        <p:nvSpPr>
          <p:cNvPr id="10" name="TextBox 9"/>
          <p:cNvSpPr txBox="1"/>
          <p:nvPr/>
        </p:nvSpPr>
        <p:spPr>
          <a:xfrm>
            <a:off x="7406640" y="2880360"/>
            <a:ext cx="4389120" cy="731520"/>
          </a:xfrm>
          <a:prstGeom prst="rect">
            <a:avLst/>
          </a:prstGeom>
          <a:noFill/>
        </p:spPr>
        <p:txBody>
          <a:bodyPr wrap="square" lIns="0" rIns="0" tIns="0" bIns="0" anchor="t">
            <a:spAutoFit/>
          </a:bodyPr>
          <a:lstStyle/>
          <a:p>
            <a:pPr algn="l"/>
            <a:r>
              <a:rPr sz="3400" b="1" i="0">
                <a:solidFill>
                  <a:srgbClr val="0D9488"/>
                </a:solidFill>
                <a:latin typeface="Cambria"/>
              </a:rPr>
              <a:t>34 → 4 px</a:t>
            </a:r>
          </a:p>
        </p:txBody>
      </p:sp>
      <p:sp>
        <p:nvSpPr>
          <p:cNvPr id="11" name="TextBox 10"/>
          <p:cNvSpPr txBox="1"/>
          <p:nvPr/>
        </p:nvSpPr>
        <p:spPr>
          <a:xfrm>
            <a:off x="7406640" y="3657600"/>
            <a:ext cx="4389120" cy="731520"/>
          </a:xfrm>
          <a:prstGeom prst="rect">
            <a:avLst/>
          </a:prstGeom>
          <a:noFill/>
        </p:spPr>
        <p:txBody>
          <a:bodyPr wrap="square" lIns="0" rIns="0" tIns="0" bIns="0" anchor="t">
            <a:spAutoFit/>
          </a:bodyPr>
          <a:lstStyle/>
          <a:p>
            <a:pPr algn="l"/>
            <a:r>
              <a:rPr sz="1300" b="0" i="0">
                <a:solidFill>
                  <a:srgbClr val="64748B"/>
                </a:solidFill>
                <a:latin typeface="Calibri"/>
              </a:rPr>
              <a:t>Real-ESRGAN halo: extra compute 60 % → 6 %</a:t>
            </a:r>
          </a:p>
        </p:txBody>
      </p:sp>
      <p:sp>
        <p:nvSpPr>
          <p:cNvPr id="12" name="TextBox 11"/>
          <p:cNvSpPr txBox="1"/>
          <p:nvPr/>
        </p:nvSpPr>
        <p:spPr>
          <a:xfrm>
            <a:off x="7406640" y="4343400"/>
            <a:ext cx="4389120" cy="2011680"/>
          </a:xfrm>
          <a:prstGeom prst="rect">
            <a:avLst/>
          </a:prstGeom>
          <a:noFill/>
        </p:spPr>
        <p:txBody>
          <a:bodyPr wrap="square" lIns="0" rIns="0" tIns="0" bIns="0">
            <a:spAutoFit/>
          </a:bodyPr>
          <a:lstStyle/>
          <a:p>
            <a:pPr>
              <a:spcAft>
                <a:spcPts val="600"/>
              </a:spcAft>
            </a:pPr>
            <a:r>
              <a:rPr sz="1400">
                <a:solidFill>
                  <a:srgbClr val="0D9488"/>
                </a:solidFill>
                <a:latin typeface="Calibri"/>
              </a:rPr>
              <a:t>▸  </a:t>
            </a:r>
            <a:r>
              <a:rPr b="1" sz="1400">
                <a:solidFill>
                  <a:srgbClr val="1F2937"/>
                </a:solidFill>
                <a:latin typeface="Calibri"/>
              </a:rPr>
              <a:t>Criterion:</a:t>
            </a:r>
            <a:r>
              <a:rPr sz="1400">
                <a:solidFill>
                  <a:srgbClr val="1F2937"/>
                </a:solidFill>
                <a:latin typeface="Calibri"/>
              </a:rPr>
              <a:t> seam PSNR ≥ 40 dB and p99.9 error ≤ 8 grey levels</a:t>
            </a:r>
          </a:p>
          <a:p>
            <a:pPr>
              <a:spcAft>
                <a:spcPts val="600"/>
              </a:spcAft>
            </a:pPr>
            <a:r>
              <a:rPr sz="1400">
                <a:solidFill>
                  <a:srgbClr val="0D9488"/>
                </a:solidFill>
                <a:latin typeface="Calibri"/>
              </a:rPr>
              <a:t>▸  </a:t>
            </a:r>
            <a:r>
              <a:rPr b="1" sz="1400">
                <a:solidFill>
                  <a:srgbClr val="1F2937"/>
                </a:solidFill>
                <a:latin typeface="Calibri"/>
              </a:rPr>
              <a:t>Stride fix:</a:t>
            </a:r>
            <a:r>
              <a:rPr sz="1400">
                <a:solidFill>
                  <a:srgbClr val="1F2937"/>
                </a:solidFill>
                <a:latin typeface="Calibri"/>
              </a:rPr>
              <a:t> snap halo edges to 16 px, theoretical halo became bit-exact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r>
              <a:rPr sz="1100" b="1" i="0">
                <a:solidFill>
                  <a:srgbClr val="0D9488"/>
                </a:solidFill>
                <a:latin typeface="Calibri"/>
              </a:rPr>
              <a:t>MEASURED CAPACITY CURVE S(N)</a:t>
            </a:r>
          </a:p>
        </p:txBody>
      </p:sp>
      <p:sp>
        <p:nvSpPr>
          <p:cNvPr id="3" name="Title"/>
          <p:cNvSpPr txBox="1"/>
          <p:nvPr/>
        </p:nvSpPr>
        <p:spPr>
          <a:xfrm>
            <a:off x="548640" y="566928"/>
            <a:ext cx="10515600" cy="640080"/>
          </a:xfrm>
          <a:prstGeom prst="rect">
            <a:avLst/>
          </a:prstGeom>
          <a:noFill/>
        </p:spPr>
        <p:txBody>
          <a:bodyPr wrap="square" lIns="0" rIns="0" tIns="0" bIns="0" anchor="t">
            <a:spAutoFit/>
          </a:bodyPr>
          <a:lstStyle/>
          <a:p>
            <a:pPr algn="l"/>
            <a:r>
              <a:rPr sz="2800" b="1" i="0">
                <a:solidFill>
                  <a:srgbClr val="0F2A44"/>
                </a:solidFill>
                <a:latin typeface="Cambria"/>
              </a:rPr>
              <a:t>Neural ops are memory-bound on one host</a:t>
            </a:r>
          </a:p>
        </p:txBody>
      </p:sp>
      <p:sp>
        <p:nvSpPr>
          <p:cNvPr id="4" name="TextBox 3"/>
          <p:cNvSpPr txBox="1"/>
          <p:nvPr/>
        </p:nvSpPr>
        <p:spPr>
          <a:xfrm>
            <a:off x="11155680" y="6446520"/>
            <a:ext cx="731520" cy="274320"/>
          </a:xfrm>
          <a:prstGeom prst="rect">
            <a:avLst/>
          </a:prstGeom>
          <a:noFill/>
        </p:spPr>
        <p:txBody>
          <a:bodyPr wrap="square" lIns="0" rIns="0" tIns="0" bIns="0" anchor="t">
            <a:spAutoFit/>
          </a:bodyPr>
          <a:lstStyle/>
          <a:p>
            <a:pPr algn="r"/>
            <a:r>
              <a:rPr sz="1000" b="0" i="0">
                <a:solidFill>
                  <a:srgbClr val="64748B"/>
                </a:solidFill>
                <a:latin typeface="Calibri"/>
              </a:rPr>
              <a:t>7</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4748B"/>
                </a:solidFill>
                <a:latin typeface="Calibri"/>
              </a:rPr>
              <a:t>Cloud-Native Parallel Image Processing · BECE355L</a:t>
            </a:r>
          </a:p>
        </p:txBody>
      </p:sp>
      <p:graphicFrame>
        <p:nvGraphicFramePr>
          <p:cNvPr id="6" name="Chart 5"/>
          <p:cNvGraphicFramePr>
            <a:graphicFrameLocks noGrp="1"/>
          </p:cNvGraphicFramePr>
          <p:nvPr/>
        </p:nvGraphicFramePr>
        <p:xfrm>
          <a:off x="457200" y="1371600"/>
          <a:ext cx="6949440" cy="4892040"/>
        </p:xfrm>
        <a:graphic>
          <a:graphicData uri="http://schemas.openxmlformats.org/drawingml/2006/chart">
            <c:chart xmlns:c="http://schemas.openxmlformats.org/drawingml/2006/chart" r:id="rId2"/>
          </a:graphicData>
        </a:graphic>
      </p:graphicFrame>
      <p:sp>
        <p:nvSpPr>
          <p:cNvPr id="7" name="TextBox 6"/>
          <p:cNvSpPr txBox="1"/>
          <p:nvPr/>
        </p:nvSpPr>
        <p:spPr>
          <a:xfrm>
            <a:off x="7863840" y="1463040"/>
            <a:ext cx="3931920" cy="731520"/>
          </a:xfrm>
          <a:prstGeom prst="rect">
            <a:avLst/>
          </a:prstGeom>
          <a:noFill/>
        </p:spPr>
        <p:txBody>
          <a:bodyPr wrap="square" lIns="0" rIns="0" tIns="0" bIns="0" anchor="t">
            <a:spAutoFit/>
          </a:bodyPr>
          <a:lstStyle/>
          <a:p>
            <a:pPr algn="l"/>
            <a:r>
              <a:rPr sz="4000" b="1" i="0">
                <a:solidFill>
                  <a:srgbClr val="0D9488"/>
                </a:solidFill>
                <a:latin typeface="Cambria"/>
              </a:rPr>
              <a:t>5.1× at 8</a:t>
            </a:r>
          </a:p>
        </p:txBody>
      </p:sp>
      <p:sp>
        <p:nvSpPr>
          <p:cNvPr id="8" name="TextBox 7"/>
          <p:cNvSpPr txBox="1"/>
          <p:nvPr/>
        </p:nvSpPr>
        <p:spPr>
          <a:xfrm>
            <a:off x="7863840" y="2240280"/>
            <a:ext cx="3931920" cy="731520"/>
          </a:xfrm>
          <a:prstGeom prst="rect">
            <a:avLst/>
          </a:prstGeom>
          <a:noFill/>
        </p:spPr>
        <p:txBody>
          <a:bodyPr wrap="square" lIns="0" rIns="0" tIns="0" bIns="0" anchor="t">
            <a:spAutoFit/>
          </a:bodyPr>
          <a:lstStyle/>
          <a:p>
            <a:pPr algn="l"/>
            <a:r>
              <a:rPr sz="1300" b="0" i="0">
                <a:solidFill>
                  <a:srgbClr val="64748B"/>
                </a:solidFill>
                <a:latin typeface="Calibri"/>
              </a:rPr>
              <a:t>HED peak, then it falls</a:t>
            </a:r>
          </a:p>
        </p:txBody>
      </p:sp>
      <p:sp>
        <p:nvSpPr>
          <p:cNvPr id="9" name="TextBox 8"/>
          <p:cNvSpPr txBox="1"/>
          <p:nvPr/>
        </p:nvSpPr>
        <p:spPr>
          <a:xfrm>
            <a:off x="7863840" y="2788920"/>
            <a:ext cx="3931920" cy="731520"/>
          </a:xfrm>
          <a:prstGeom prst="rect">
            <a:avLst/>
          </a:prstGeom>
          <a:noFill/>
        </p:spPr>
        <p:txBody>
          <a:bodyPr wrap="square" lIns="0" rIns="0" tIns="0" bIns="0" anchor="t">
            <a:spAutoFit/>
          </a:bodyPr>
          <a:lstStyle/>
          <a:p>
            <a:pPr algn="l"/>
            <a:r>
              <a:rPr sz="4000" b="1" i="0">
                <a:solidFill>
                  <a:srgbClr val="D97706"/>
                </a:solidFill>
                <a:latin typeface="Cambria"/>
              </a:rPr>
              <a:t>≈ 2.2× from 4</a:t>
            </a:r>
          </a:p>
        </p:txBody>
      </p:sp>
      <p:sp>
        <p:nvSpPr>
          <p:cNvPr id="10" name="TextBox 9"/>
          <p:cNvSpPr txBox="1"/>
          <p:nvPr/>
        </p:nvSpPr>
        <p:spPr>
          <a:xfrm>
            <a:off x="7863840" y="3566160"/>
            <a:ext cx="3931920" cy="731520"/>
          </a:xfrm>
          <a:prstGeom prst="rect">
            <a:avLst/>
          </a:prstGeom>
          <a:noFill/>
        </p:spPr>
        <p:txBody>
          <a:bodyPr wrap="square" lIns="0" rIns="0" tIns="0" bIns="0" anchor="t">
            <a:spAutoFit/>
          </a:bodyPr>
          <a:lstStyle/>
          <a:p>
            <a:pPr algn="l"/>
            <a:r>
              <a:rPr sz="1300" b="0" i="0">
                <a:solidFill>
                  <a:srgbClr val="64748B"/>
                </a:solidFill>
                <a:latin typeface="Calibri"/>
              </a:rPr>
              <a:t>Real-ESRGAN plateau</a:t>
            </a:r>
          </a:p>
        </p:txBody>
      </p:sp>
      <p:sp>
        <p:nvSpPr>
          <p:cNvPr id="11" name="TextBox 10"/>
          <p:cNvSpPr txBox="1"/>
          <p:nvPr/>
        </p:nvSpPr>
        <p:spPr>
          <a:xfrm>
            <a:off x="7863840" y="4206240"/>
            <a:ext cx="3931920" cy="2103120"/>
          </a:xfrm>
          <a:prstGeom prst="rect">
            <a:avLst/>
          </a:prstGeom>
          <a:noFill/>
        </p:spPr>
        <p:txBody>
          <a:bodyPr wrap="square" lIns="0" rIns="0" tIns="0" bIns="0" anchor="t">
            <a:spAutoFit/>
          </a:bodyPr>
          <a:lstStyle/>
          <a:p>
            <a:pPr algn="l"/>
            <a:r>
              <a:rPr sz="1400" b="0" i="0">
                <a:solidFill>
                  <a:srgbClr val="1F2937"/>
                </a:solidFill>
                <a:latin typeface="Calibri"/>
              </a:rPr>
              <a:t>The plan expected near-linear speedup. Measured: activations of many concurrent tiles overflow the caches, so extra workers wait on DRAM. On a multi-node cluster each node adds bandwidth; the planner uses the measured curve either way.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badge 3"/>
          <p:cNvSpPr/>
          <p:nvPr/>
        </p:nvSpPr>
        <p:spPr>
          <a:xfrm>
            <a:off x="548640" y="411480"/>
            <a:ext cx="566928" cy="5669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3</a:t>
            </a:r>
          </a:p>
        </p:txBody>
      </p:sp>
      <p:sp>
        <p:nvSpPr>
          <p:cNvPr id="3" name="TextBox 2"/>
          <p:cNvSpPr txBox="1"/>
          <p:nvPr/>
        </p:nvSpPr>
        <p:spPr>
          <a:xfrm>
            <a:off x="1280160" y="347472"/>
            <a:ext cx="9144000" cy="274320"/>
          </a:xfrm>
          <a:prstGeom prst="rect">
            <a:avLst/>
          </a:prstGeom>
          <a:noFill/>
        </p:spPr>
        <p:txBody>
          <a:bodyPr wrap="square" lIns="0" rIns="0" tIns="0" bIns="0" anchor="t">
            <a:spAutoFit/>
          </a:bodyPr>
          <a:lstStyle/>
          <a:p>
            <a:pPr algn="l"/>
            <a:r>
              <a:rPr sz="1100" b="1" i="0">
                <a:solidFill>
                  <a:srgbClr val="0D9488"/>
                </a:solidFill>
                <a:latin typeface="Calibri"/>
              </a:rPr>
              <a:t>UPGRADE 3 · PLANNER</a:t>
            </a:r>
          </a:p>
        </p:txBody>
      </p:sp>
      <p:sp>
        <p:nvSpPr>
          <p:cNvPr id="4" name="Title"/>
          <p:cNvSpPr txBox="1"/>
          <p:nvPr/>
        </p:nvSpPr>
        <p:spPr>
          <a:xfrm>
            <a:off x="1280160" y="566928"/>
            <a:ext cx="10515600" cy="640080"/>
          </a:xfrm>
          <a:prstGeom prst="rect">
            <a:avLst/>
          </a:prstGeom>
          <a:noFill/>
        </p:spPr>
        <p:txBody>
          <a:bodyPr wrap="square" lIns="0" rIns="0" tIns="0" bIns="0" anchor="t">
            <a:spAutoFit/>
          </a:bodyPr>
          <a:lstStyle/>
          <a:p>
            <a:pPr algn="l"/>
            <a:r>
              <a:rPr sz="2800" b="1" i="0">
                <a:solidFill>
                  <a:srgbClr val="0F2A44"/>
                </a:solidFill>
                <a:latin typeface="Cambria"/>
              </a:rPr>
              <a:t>A calibrated cost model decides how to run each job</a:t>
            </a:r>
          </a:p>
        </p:txBody>
      </p:sp>
      <p:sp>
        <p:nvSpPr>
          <p:cNvPr id="5" name="TextBox 4"/>
          <p:cNvSpPr txBox="1"/>
          <p:nvPr/>
        </p:nvSpPr>
        <p:spPr>
          <a:xfrm>
            <a:off x="11155680" y="6446520"/>
            <a:ext cx="731520" cy="274320"/>
          </a:xfrm>
          <a:prstGeom prst="rect">
            <a:avLst/>
          </a:prstGeom>
          <a:noFill/>
        </p:spPr>
        <p:txBody>
          <a:bodyPr wrap="square" lIns="0" rIns="0" tIns="0" bIns="0" anchor="t">
            <a:spAutoFit/>
          </a:bodyPr>
          <a:lstStyle/>
          <a:p>
            <a:pPr algn="r"/>
            <a:r>
              <a:rPr sz="1000" b="0" i="0">
                <a:solidFill>
                  <a:srgbClr val="64748B"/>
                </a:solidFill>
                <a:latin typeface="Calibri"/>
              </a:rPr>
              <a:t>8</a:t>
            </a:r>
          </a:p>
        </p:txBody>
      </p:sp>
      <p:sp>
        <p:nvSpPr>
          <p:cNvPr id="6" name="TextBox 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4748B"/>
                </a:solidFill>
                <a:latin typeface="Calibri"/>
              </a:rPr>
              <a:t>Cloud-Native Parallel Image Processing · BECE355L</a:t>
            </a:r>
          </a:p>
        </p:txBody>
      </p:sp>
      <p:sp>
        <p:nvSpPr>
          <p:cNvPr id="7" name="Rectangle 6"/>
          <p:cNvSpPr/>
          <p:nvPr/>
        </p:nvSpPr>
        <p:spPr>
          <a:xfrm>
            <a:off x="548640" y="1463040"/>
            <a:ext cx="6583680" cy="21031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00200"/>
            <a:ext cx="6217920" cy="1920240"/>
          </a:xfrm>
          <a:prstGeom prst="rect">
            <a:avLst/>
          </a:prstGeom>
          <a:noFill/>
        </p:spPr>
        <p:txBody>
          <a:bodyPr wrap="square" lIns="0" rIns="0" tIns="0" bIns="0" anchor="t">
            <a:spAutoFit/>
          </a:bodyPr>
          <a:lstStyle/>
          <a:p>
            <a:pPr algn="l"/>
            <a:r>
              <a:rPr sz="2000" b="0" i="1">
                <a:solidFill>
                  <a:srgbClr val="0F2A44"/>
                </a:solidFill>
                <a:latin typeface="Cambria"/>
              </a:rPr>
              <a:t>T</a:t>
            </a:r>
            <a:r>
              <a:rPr sz="1300" b="0" i="0">
                <a:solidFill>
                  <a:srgbClr val="0F2A44"/>
                </a:solidFill>
                <a:latin typeface="Cambria"/>
              </a:rPr>
              <a:t>dist</a:t>
            </a:r>
            <a:r>
              <a:rPr sz="2000" b="0" i="1">
                <a:solidFill>
                  <a:srgbClr val="0F2A44"/>
                </a:solidFill>
                <a:latin typeface="Cambria"/>
              </a:rPr>
              <a:t> = T</a:t>
            </a:r>
            <a:r>
              <a:rPr sz="1300" b="0" i="0">
                <a:solidFill>
                  <a:srgbClr val="0F2A44"/>
                </a:solidFill>
                <a:latin typeface="Cambria"/>
              </a:rPr>
              <a:t>split</a:t>
            </a:r>
            <a:r>
              <a:rPr sz="2000" b="0" i="1">
                <a:solidFill>
                  <a:srgbClr val="0F2A44"/>
                </a:solidFill>
                <a:latin typeface="Cambria"/>
              </a:rPr>
              <a:t> + ⌈K/n⌉ · c · p̄ · n / S(n) + overhead + T</a:t>
            </a:r>
            <a:r>
              <a:rPr sz="1300" b="0" i="0">
                <a:solidFill>
                  <a:srgbClr val="0F2A44"/>
                </a:solidFill>
                <a:latin typeface="Cambria"/>
              </a:rPr>
              <a:t>stitch</a:t>
            </a:r>
          </a:p>
          <a:p>
            <a:pPr algn="l"/>
            <a:r>
              <a:rPr sz="2000" b="0" i="1">
                <a:solidFill>
                  <a:srgbClr val="0F2A44"/>
                </a:solidFill>
                <a:latin typeface="Cambria"/>
              </a:rPr>
              <a:t>o(p) = o</a:t>
            </a:r>
            <a:r>
              <a:rPr sz="1300" b="0" i="0">
                <a:solidFill>
                  <a:srgbClr val="0F2A44"/>
                </a:solidFill>
                <a:latin typeface="Cambria"/>
              </a:rPr>
              <a:t>0</a:t>
            </a:r>
            <a:r>
              <a:rPr sz="2000" b="0" i="1">
                <a:solidFill>
                  <a:srgbClr val="0F2A44"/>
                </a:solidFill>
                <a:latin typeface="Cambria"/>
              </a:rPr>
              <a:t> + o</a:t>
            </a:r>
            <a:r>
              <a:rPr sz="1300" b="0" i="0">
                <a:solidFill>
                  <a:srgbClr val="0F2A44"/>
                </a:solidFill>
                <a:latin typeface="Cambria"/>
              </a:rPr>
              <a:t>px</a:t>
            </a:r>
            <a:r>
              <a:rPr sz="2000" b="0" i="1">
                <a:solidFill>
                  <a:srgbClr val="0F2A44"/>
                </a:solidFill>
                <a:latin typeface="Cambria"/>
              </a:rPr>
              <a:t> · p</a:t>
            </a:r>
            <a:r>
              <a:rPr sz="1300" b="0" i="0">
                <a:solidFill>
                  <a:srgbClr val="0F2A44"/>
                </a:solidFill>
                <a:latin typeface="Cambria"/>
              </a:rPr>
              <a:t>halo</a:t>
            </a:r>
            <a:r>
              <a:rPr sz="2000" b="0" i="1">
                <a:solidFill>
                  <a:srgbClr val="0F2A44"/>
                </a:solidFill>
                <a:latin typeface="Cambria"/>
              </a:rPr>
              <a:t> · (1 + s²)</a:t>
            </a:r>
          </a:p>
          <a:p>
            <a:pPr algn="l"/>
            <a:r>
              <a:rPr sz="2000" b="0" i="1">
                <a:solidFill>
                  <a:srgbClr val="0F2A44"/>
                </a:solidFill>
                <a:latin typeface="Cambria"/>
              </a:rPr>
              <a:t>T</a:t>
            </a:r>
            <a:r>
              <a:rPr sz="1300" b="0" i="0">
                <a:solidFill>
                  <a:srgbClr val="0F2A44"/>
                </a:solidFill>
                <a:latin typeface="Cambria"/>
              </a:rPr>
              <a:t>local</a:t>
            </a:r>
            <a:r>
              <a:rPr sz="2000" b="0" i="1">
                <a:solidFill>
                  <a:srgbClr val="0F2A44"/>
                </a:solidFill>
                <a:latin typeface="Cambria"/>
              </a:rPr>
              <a:t> = c · P</a:t>
            </a:r>
          </a:p>
        </p:txBody>
      </p:sp>
      <p:sp>
        <p:nvSpPr>
          <p:cNvPr id="9" name="TextBox 8"/>
          <p:cNvSpPr txBox="1"/>
          <p:nvPr/>
        </p:nvSpPr>
        <p:spPr>
          <a:xfrm>
            <a:off x="548640" y="3840480"/>
            <a:ext cx="6583680" cy="2468880"/>
          </a:xfrm>
          <a:prstGeom prst="rect">
            <a:avLst/>
          </a:prstGeom>
          <a:noFill/>
        </p:spPr>
        <p:txBody>
          <a:bodyPr wrap="square" lIns="0" rIns="0" tIns="0" bIns="0">
            <a:spAutoFit/>
          </a:bodyPr>
          <a:lstStyle/>
          <a:p>
            <a:pPr>
              <a:spcAft>
                <a:spcPts val="600"/>
              </a:spcAft>
            </a:pPr>
            <a:r>
              <a:rPr sz="1400">
                <a:solidFill>
                  <a:srgbClr val="0D9488"/>
                </a:solidFill>
                <a:latin typeface="Calibri"/>
              </a:rPr>
              <a:t>▸  </a:t>
            </a:r>
            <a:r>
              <a:rPr b="1" sz="1400">
                <a:solidFill>
                  <a:srgbClr val="1F2937"/>
                </a:solidFill>
                <a:latin typeface="Calibri"/>
              </a:rPr>
              <a:t>c:</a:t>
            </a:r>
            <a:r>
              <a:rPr sz="1400">
                <a:solidFill>
                  <a:srgbClr val="1F2937"/>
                </a:solidFill>
                <a:latin typeface="Calibri"/>
              </a:rPr>
              <a:t> measured cost per pixel of each op (0.3 ns grayscale … 24 µs Real-ESRGAN)</a:t>
            </a:r>
          </a:p>
          <a:p>
            <a:pPr>
              <a:spcAft>
                <a:spcPts val="600"/>
              </a:spcAft>
            </a:pPr>
            <a:r>
              <a:rPr sz="1400">
                <a:solidFill>
                  <a:srgbClr val="0D9488"/>
                </a:solidFill>
                <a:latin typeface="Calibri"/>
              </a:rPr>
              <a:t>▸  </a:t>
            </a:r>
            <a:r>
              <a:rPr b="1" sz="1400">
                <a:solidFill>
                  <a:srgbClr val="1F2937"/>
                </a:solidFill>
                <a:latin typeface="Calibri"/>
              </a:rPr>
              <a:t>S(n):</a:t>
            </a:r>
            <a:r>
              <a:rPr sz="1400">
                <a:solidFill>
                  <a:srgbClr val="1F2937"/>
                </a:solidFill>
                <a:latin typeface="Calibri"/>
              </a:rPr>
              <a:t> measured capacity curve per op</a:t>
            </a:r>
          </a:p>
          <a:p>
            <a:pPr>
              <a:spcAft>
                <a:spcPts val="600"/>
              </a:spcAft>
            </a:pPr>
            <a:r>
              <a:rPr sz="1400">
                <a:solidFill>
                  <a:srgbClr val="0D9488"/>
                </a:solidFill>
                <a:latin typeface="Calibri"/>
              </a:rPr>
              <a:t>▸  </a:t>
            </a:r>
            <a:r>
              <a:rPr b="1" sz="1400">
                <a:solidFill>
                  <a:srgbClr val="1F2937"/>
                </a:solidFill>
                <a:latin typeface="Calibri"/>
              </a:rPr>
              <a:t>Search:</a:t>
            </a:r>
            <a:r>
              <a:rPr sz="1400">
                <a:solidFill>
                  <a:srgbClr val="1F2937"/>
                </a:solidFill>
                <a:latin typeface="Calibri"/>
              </a:rPr>
              <a:t> tile ∈ {256, 512, 1024, 2048} × every worker count; 20 % margin; near-ties → fewer workers</a:t>
            </a:r>
          </a:p>
          <a:p>
            <a:pPr>
              <a:spcAft>
                <a:spcPts val="600"/>
              </a:spcAft>
            </a:pPr>
            <a:r>
              <a:rPr sz="1400">
                <a:solidFill>
                  <a:srgbClr val="0D9488"/>
                </a:solidFill>
                <a:latin typeface="Calibri"/>
              </a:rPr>
              <a:t>▸  </a:t>
            </a:r>
            <a:r>
              <a:rPr b="1" sz="1400">
                <a:solidFill>
                  <a:srgbClr val="1F2937"/>
                </a:solidFill>
                <a:latin typeface="Calibri"/>
              </a:rPr>
              <a:t>Online:</a:t>
            </a:r>
            <a:r>
              <a:rPr sz="1400">
                <a:solidFill>
                  <a:srgbClr val="1F2937"/>
                </a:solidFill>
                <a:latin typeface="Calibri"/>
              </a:rPr>
              <a:t> workers update c with a contention-normalised EMA in Redis</a:t>
            </a:r>
          </a:p>
        </p:txBody>
      </p:sp>
      <p:pic>
        <p:nvPicPr>
          <p:cNvPr id="10" name="Picture 9" descr="fig_capacity.png"/>
          <p:cNvPicPr>
            <a:picLocks noChangeAspect="1"/>
          </p:cNvPicPr>
          <p:nvPr/>
        </p:nvPicPr>
        <p:blipFill>
          <a:blip r:embed="rId2"/>
          <a:stretch>
            <a:fillRect/>
          </a:stretch>
        </p:blipFill>
        <p:spPr>
          <a:xfrm>
            <a:off x="7406640" y="2403494"/>
            <a:ext cx="4389120" cy="2873971"/>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badge 3"/>
          <p:cNvSpPr/>
          <p:nvPr/>
        </p:nvSpPr>
        <p:spPr>
          <a:xfrm>
            <a:off x="548640" y="411480"/>
            <a:ext cx="566928" cy="5669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3</a:t>
            </a:r>
          </a:p>
        </p:txBody>
      </p:sp>
      <p:sp>
        <p:nvSpPr>
          <p:cNvPr id="3" name="TextBox 2"/>
          <p:cNvSpPr txBox="1"/>
          <p:nvPr/>
        </p:nvSpPr>
        <p:spPr>
          <a:xfrm>
            <a:off x="1280160" y="347472"/>
            <a:ext cx="9144000" cy="274320"/>
          </a:xfrm>
          <a:prstGeom prst="rect">
            <a:avLst/>
          </a:prstGeom>
          <a:noFill/>
        </p:spPr>
        <p:txBody>
          <a:bodyPr wrap="square" lIns="0" rIns="0" tIns="0" bIns="0" anchor="t">
            <a:spAutoFit/>
          </a:bodyPr>
          <a:lstStyle/>
          <a:p>
            <a:pPr algn="l"/>
            <a:r>
              <a:rPr sz="1100" b="1" i="0">
                <a:solidFill>
                  <a:srgbClr val="0D9488"/>
                </a:solidFill>
                <a:latin typeface="Calibri"/>
              </a:rPr>
              <a:t>UPGRADE 3 · RESULTS</a:t>
            </a:r>
          </a:p>
        </p:txBody>
      </p:sp>
      <p:sp>
        <p:nvSpPr>
          <p:cNvPr id="4" name="Title"/>
          <p:cNvSpPr txBox="1"/>
          <p:nvPr/>
        </p:nvSpPr>
        <p:spPr>
          <a:xfrm>
            <a:off x="1280160" y="566928"/>
            <a:ext cx="10515600" cy="640080"/>
          </a:xfrm>
          <a:prstGeom prst="rect">
            <a:avLst/>
          </a:prstGeom>
          <a:noFill/>
        </p:spPr>
        <p:txBody>
          <a:bodyPr wrap="square" lIns="0" rIns="0" tIns="0" bIns="0" anchor="t">
            <a:spAutoFit/>
          </a:bodyPr>
          <a:lstStyle/>
          <a:p>
            <a:pPr algn="l"/>
            <a:r>
              <a:rPr sz="2800" b="1" i="0">
                <a:solidFill>
                  <a:srgbClr val="0F2A44"/>
                </a:solidFill>
                <a:latin typeface="Cambria"/>
              </a:rPr>
              <a:t>The planner removes the slowdowns of naive tiling</a:t>
            </a:r>
          </a:p>
        </p:txBody>
      </p:sp>
      <p:sp>
        <p:nvSpPr>
          <p:cNvPr id="5" name="TextBox 4"/>
          <p:cNvSpPr txBox="1"/>
          <p:nvPr/>
        </p:nvSpPr>
        <p:spPr>
          <a:xfrm>
            <a:off x="11155680" y="6446520"/>
            <a:ext cx="731520" cy="274320"/>
          </a:xfrm>
          <a:prstGeom prst="rect">
            <a:avLst/>
          </a:prstGeom>
          <a:noFill/>
        </p:spPr>
        <p:txBody>
          <a:bodyPr wrap="square" lIns="0" rIns="0" tIns="0" bIns="0" anchor="t">
            <a:spAutoFit/>
          </a:bodyPr>
          <a:lstStyle/>
          <a:p>
            <a:pPr algn="r"/>
            <a:r>
              <a:rPr sz="1000" b="0" i="0">
                <a:solidFill>
                  <a:srgbClr val="64748B"/>
                </a:solidFill>
                <a:latin typeface="Calibri"/>
              </a:rPr>
              <a:t>9</a:t>
            </a:r>
          </a:p>
        </p:txBody>
      </p:sp>
      <p:sp>
        <p:nvSpPr>
          <p:cNvPr id="6" name="TextBox 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4748B"/>
                </a:solidFill>
                <a:latin typeface="Calibri"/>
              </a:rPr>
              <a:t>Cloud-Native Parallel Image Processing · BECE355L</a:t>
            </a:r>
          </a:p>
        </p:txBody>
      </p:sp>
      <p:graphicFrame>
        <p:nvGraphicFramePr>
          <p:cNvPr id="7" name="Chart 6"/>
          <p:cNvGraphicFramePr>
            <a:graphicFrameLocks noGrp="1"/>
          </p:cNvGraphicFramePr>
          <p:nvPr/>
        </p:nvGraphicFramePr>
        <p:xfrm>
          <a:off x="457200" y="1371600"/>
          <a:ext cx="7680960" cy="4892040"/>
        </p:xfrm>
        <a:graphic>
          <a:graphicData uri="http://schemas.openxmlformats.org/drawingml/2006/chart">
            <c:chart xmlns:c="http://schemas.openxmlformats.org/drawingml/2006/chart" r:id="rId2"/>
          </a:graphicData>
        </a:graphic>
      </p:graphicFrame>
      <p:sp>
        <p:nvSpPr>
          <p:cNvPr id="8" name="TextBox 7"/>
          <p:cNvSpPr txBox="1"/>
          <p:nvPr/>
        </p:nvSpPr>
        <p:spPr>
          <a:xfrm>
            <a:off x="8503920" y="1463040"/>
            <a:ext cx="3383280" cy="731520"/>
          </a:xfrm>
          <a:prstGeom prst="rect">
            <a:avLst/>
          </a:prstGeom>
          <a:noFill/>
        </p:spPr>
        <p:txBody>
          <a:bodyPr wrap="square" lIns="0" rIns="0" tIns="0" bIns="0" anchor="t">
            <a:spAutoFit/>
          </a:bodyPr>
          <a:lstStyle/>
          <a:p>
            <a:pPr algn="l"/>
            <a:r>
              <a:rPr sz="3200" b="1" i="0">
                <a:solidFill>
                  <a:srgbClr val="0D9488"/>
                </a:solidFill>
                <a:latin typeface="Cambria"/>
              </a:rPr>
              <a:t>0.06× → 1.11×</a:t>
            </a:r>
          </a:p>
        </p:txBody>
      </p:sp>
      <p:sp>
        <p:nvSpPr>
          <p:cNvPr id="9" name="TextBox 8"/>
          <p:cNvSpPr txBox="1"/>
          <p:nvPr/>
        </p:nvSpPr>
        <p:spPr>
          <a:xfrm>
            <a:off x="8503920" y="2240280"/>
            <a:ext cx="3383280" cy="731520"/>
          </a:xfrm>
          <a:prstGeom prst="rect">
            <a:avLst/>
          </a:prstGeom>
          <a:noFill/>
        </p:spPr>
        <p:txBody>
          <a:bodyPr wrap="square" lIns="0" rIns="0" tIns="0" bIns="0" anchor="t">
            <a:spAutoFit/>
          </a:bodyPr>
          <a:lstStyle/>
          <a:p>
            <a:pPr algn="l"/>
            <a:r>
              <a:rPr sz="1300" b="0" i="0">
                <a:solidFill>
                  <a:srgbClr val="64748B"/>
                </a:solidFill>
                <a:latin typeface="Calibri"/>
              </a:rPr>
              <a:t>grayscale: planner runs it locally</a:t>
            </a:r>
          </a:p>
        </p:txBody>
      </p:sp>
      <p:sp>
        <p:nvSpPr>
          <p:cNvPr id="10" name="TextBox 9"/>
          <p:cNvSpPr txBox="1"/>
          <p:nvPr/>
        </p:nvSpPr>
        <p:spPr>
          <a:xfrm>
            <a:off x="8503920" y="2880360"/>
            <a:ext cx="3383280" cy="731520"/>
          </a:xfrm>
          <a:prstGeom prst="rect">
            <a:avLst/>
          </a:prstGeom>
          <a:noFill/>
        </p:spPr>
        <p:txBody>
          <a:bodyPr wrap="square" lIns="0" rIns="0" tIns="0" bIns="0" anchor="t">
            <a:spAutoFit/>
          </a:bodyPr>
          <a:lstStyle/>
          <a:p>
            <a:pPr algn="l"/>
            <a:r>
              <a:rPr sz="3200" b="1" i="0">
                <a:solidFill>
                  <a:srgbClr val="0D9488"/>
                </a:solidFill>
                <a:latin typeface="Cambria"/>
              </a:rPr>
              <a:t>2.0× → 2.5×</a:t>
            </a:r>
          </a:p>
        </p:txBody>
      </p:sp>
      <p:sp>
        <p:nvSpPr>
          <p:cNvPr id="11" name="TextBox 10"/>
          <p:cNvSpPr txBox="1"/>
          <p:nvPr/>
        </p:nvSpPr>
        <p:spPr>
          <a:xfrm>
            <a:off x="8503920" y="3657600"/>
            <a:ext cx="3383280" cy="731520"/>
          </a:xfrm>
          <a:prstGeom prst="rect">
            <a:avLst/>
          </a:prstGeom>
          <a:noFill/>
        </p:spPr>
        <p:txBody>
          <a:bodyPr wrap="square" lIns="0" rIns="0" tIns="0" bIns="0" anchor="t">
            <a:spAutoFit/>
          </a:bodyPr>
          <a:lstStyle/>
          <a:p>
            <a:pPr algn="l"/>
            <a:r>
              <a:rPr sz="1300" b="0" i="0">
                <a:solidFill>
                  <a:srgbClr val="64748B"/>
                </a:solidFill>
                <a:latin typeface="Calibri"/>
              </a:rPr>
              <a:t>HED: 8 workers beat 16</a:t>
            </a:r>
          </a:p>
        </p:txBody>
      </p:sp>
      <p:sp>
        <p:nvSpPr>
          <p:cNvPr id="12" name="TextBox 11"/>
          <p:cNvSpPr txBox="1"/>
          <p:nvPr/>
        </p:nvSpPr>
        <p:spPr>
          <a:xfrm>
            <a:off x="8503920" y="4297680"/>
            <a:ext cx="3383280" cy="731520"/>
          </a:xfrm>
          <a:prstGeom prst="rect">
            <a:avLst/>
          </a:prstGeom>
          <a:noFill/>
        </p:spPr>
        <p:txBody>
          <a:bodyPr wrap="square" lIns="0" rIns="0" tIns="0" bIns="0" anchor="t">
            <a:spAutoFit/>
          </a:bodyPr>
          <a:lstStyle/>
          <a:p>
            <a:pPr algn="l"/>
            <a:r>
              <a:rPr sz="3200" b="1" i="0">
                <a:solidFill>
                  <a:srgbClr val="0F2A44"/>
                </a:solidFill>
                <a:latin typeface="Cambria"/>
              </a:rPr>
              <a:t>25 % vs 40 %</a:t>
            </a:r>
          </a:p>
        </p:txBody>
      </p:sp>
      <p:sp>
        <p:nvSpPr>
          <p:cNvPr id="13" name="TextBox 12"/>
          <p:cNvSpPr txBox="1"/>
          <p:nvPr/>
        </p:nvSpPr>
        <p:spPr>
          <a:xfrm>
            <a:off x="8503920" y="5074920"/>
            <a:ext cx="3383280" cy="731520"/>
          </a:xfrm>
          <a:prstGeom prst="rect">
            <a:avLst/>
          </a:prstGeom>
          <a:noFill/>
        </p:spPr>
        <p:txBody>
          <a:bodyPr wrap="square" lIns="0" rIns="0" tIns="0" bIns="0" anchor="t">
            <a:spAutoFit/>
          </a:bodyPr>
          <a:lstStyle/>
          <a:p>
            <a:pPr algn="l"/>
            <a:r>
              <a:rPr sz="1300" b="0" i="0">
                <a:solidFill>
                  <a:srgbClr val="64748B"/>
                </a:solidFill>
                <a:latin typeface="Calibri"/>
              </a:rPr>
              <a:t>prediction error (MAPE), refined vs linear model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badge 3"/>
          <p:cNvSpPr/>
          <p:nvPr/>
        </p:nvSpPr>
        <p:spPr>
          <a:xfrm>
            <a:off x="548640" y="411480"/>
            <a:ext cx="566928" cy="5669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3</a:t>
            </a:r>
          </a:p>
        </p:txBody>
      </p:sp>
      <p:sp>
        <p:nvSpPr>
          <p:cNvPr id="3" name="TextBox 2"/>
          <p:cNvSpPr txBox="1"/>
          <p:nvPr/>
        </p:nvSpPr>
        <p:spPr>
          <a:xfrm>
            <a:off x="1280160" y="347472"/>
            <a:ext cx="9144000" cy="274320"/>
          </a:xfrm>
          <a:prstGeom prst="rect">
            <a:avLst/>
          </a:prstGeom>
          <a:noFill/>
        </p:spPr>
        <p:txBody>
          <a:bodyPr wrap="square" lIns="0" rIns="0" tIns="0" bIns="0" anchor="t">
            <a:spAutoFit/>
          </a:bodyPr>
          <a:lstStyle/>
          <a:p>
            <a:pPr algn="l"/>
            <a:r>
              <a:rPr sz="1100" b="1" i="0">
                <a:solidFill>
                  <a:srgbClr val="0D9488"/>
                </a:solidFill>
                <a:latin typeface="Calibri"/>
              </a:rPr>
              <a:t>UPGRADE 3 · ACCURACY</a:t>
            </a:r>
          </a:p>
        </p:txBody>
      </p:sp>
      <p:sp>
        <p:nvSpPr>
          <p:cNvPr id="4" name="Title"/>
          <p:cNvSpPr txBox="1"/>
          <p:nvPr/>
        </p:nvSpPr>
        <p:spPr>
          <a:xfrm>
            <a:off x="1280160" y="566928"/>
            <a:ext cx="10515600" cy="640080"/>
          </a:xfrm>
          <a:prstGeom prst="rect">
            <a:avLst/>
          </a:prstGeom>
          <a:noFill/>
        </p:spPr>
        <p:txBody>
          <a:bodyPr wrap="square" lIns="0" rIns="0" tIns="0" bIns="0" anchor="t">
            <a:spAutoFit/>
          </a:bodyPr>
          <a:lstStyle/>
          <a:p>
            <a:pPr algn="l"/>
            <a:r>
              <a:rPr sz="2800" b="1" i="0">
                <a:solidFill>
                  <a:srgbClr val="0F2A44"/>
                </a:solidFill>
                <a:latin typeface="Cambria"/>
              </a:rPr>
              <a:t>Modelling contention is what makes predictions useful</a:t>
            </a:r>
          </a:p>
        </p:txBody>
      </p:sp>
      <p:sp>
        <p:nvSpPr>
          <p:cNvPr id="5" name="TextBox 4"/>
          <p:cNvSpPr txBox="1"/>
          <p:nvPr/>
        </p:nvSpPr>
        <p:spPr>
          <a:xfrm>
            <a:off x="11155680" y="6446520"/>
            <a:ext cx="731520" cy="274320"/>
          </a:xfrm>
          <a:prstGeom prst="rect">
            <a:avLst/>
          </a:prstGeom>
          <a:noFill/>
        </p:spPr>
        <p:txBody>
          <a:bodyPr wrap="square" lIns="0" rIns="0" tIns="0" bIns="0" anchor="t">
            <a:spAutoFit/>
          </a:bodyPr>
          <a:lstStyle/>
          <a:p>
            <a:pPr algn="r"/>
            <a:r>
              <a:rPr sz="1000" b="0" i="0">
                <a:solidFill>
                  <a:srgbClr val="64748B"/>
                </a:solidFill>
                <a:latin typeface="Calibri"/>
              </a:rPr>
              <a:t>10</a:t>
            </a:r>
          </a:p>
        </p:txBody>
      </p:sp>
      <p:sp>
        <p:nvSpPr>
          <p:cNvPr id="6" name="TextBox 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4748B"/>
                </a:solidFill>
                <a:latin typeface="Calibri"/>
              </a:rPr>
              <a:t>Cloud-Native Parallel Image Processing · BECE355L</a:t>
            </a:r>
          </a:p>
        </p:txBody>
      </p:sp>
      <p:graphicFrame>
        <p:nvGraphicFramePr>
          <p:cNvPr id="7" name="Chart 6"/>
          <p:cNvGraphicFramePr>
            <a:graphicFrameLocks noGrp="1"/>
          </p:cNvGraphicFramePr>
          <p:nvPr/>
        </p:nvGraphicFramePr>
        <p:xfrm>
          <a:off x="457200" y="1371600"/>
          <a:ext cx="7132320" cy="4892040"/>
        </p:xfrm>
        <a:graphic>
          <a:graphicData uri="http://schemas.openxmlformats.org/drawingml/2006/chart">
            <c:chart xmlns:c="http://schemas.openxmlformats.org/drawingml/2006/chart" r:id="rId2"/>
          </a:graphicData>
        </a:graphic>
      </p:graphicFrame>
      <p:pic>
        <p:nvPicPr>
          <p:cNvPr id="8" name="Picture 7" descr="fig_model_accuracy.png"/>
          <p:cNvPicPr>
            <a:picLocks noChangeAspect="1"/>
          </p:cNvPicPr>
          <p:nvPr/>
        </p:nvPicPr>
        <p:blipFill>
          <a:blip r:embed="rId3"/>
          <a:stretch>
            <a:fillRect/>
          </a:stretch>
        </p:blipFill>
        <p:spPr>
          <a:xfrm>
            <a:off x="7986286" y="1371600"/>
            <a:ext cx="3687028" cy="3291840"/>
          </a:xfrm>
          <a:prstGeom prst="rect">
            <a:avLst/>
          </a:prstGeom>
        </p:spPr>
      </p:pic>
      <p:sp>
        <p:nvSpPr>
          <p:cNvPr id="9" name="TextBox 8"/>
          <p:cNvSpPr txBox="1"/>
          <p:nvPr/>
        </p:nvSpPr>
        <p:spPr>
          <a:xfrm>
            <a:off x="7863840" y="4846320"/>
            <a:ext cx="3931920" cy="1463040"/>
          </a:xfrm>
          <a:prstGeom prst="rect">
            <a:avLst/>
          </a:prstGeom>
          <a:noFill/>
        </p:spPr>
        <p:txBody>
          <a:bodyPr wrap="square" lIns="0" rIns="0" tIns="0" bIns="0" anchor="t">
            <a:spAutoFit/>
          </a:bodyPr>
          <a:lstStyle/>
          <a:p>
            <a:pPr algn="l"/>
            <a:r>
              <a:rPr sz="1400" b="0" i="0">
                <a:solidFill>
                  <a:srgbClr val="1F2937"/>
                </a:solidFill>
                <a:latin typeface="Calibri"/>
              </a:rPr>
              <a:t>Biggest gains on the expensive ops, where a wrong plan costs seconds. Cheap jobs (&lt; 0.2 s) stay noisy, but there a wrong choice costs milliseconds.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badge 4"/>
          <p:cNvSpPr/>
          <p:nvPr/>
        </p:nvSpPr>
        <p:spPr>
          <a:xfrm>
            <a:off x="548640" y="411480"/>
            <a:ext cx="566928" cy="5669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4</a:t>
            </a:r>
          </a:p>
        </p:txBody>
      </p:sp>
      <p:sp>
        <p:nvSpPr>
          <p:cNvPr id="3" name="TextBox 2"/>
          <p:cNvSpPr txBox="1"/>
          <p:nvPr/>
        </p:nvSpPr>
        <p:spPr>
          <a:xfrm>
            <a:off x="1280160" y="347472"/>
            <a:ext cx="9144000" cy="274320"/>
          </a:xfrm>
          <a:prstGeom prst="rect">
            <a:avLst/>
          </a:prstGeom>
          <a:noFill/>
        </p:spPr>
        <p:txBody>
          <a:bodyPr wrap="square" lIns="0" rIns="0" tIns="0" bIns="0" anchor="t">
            <a:spAutoFit/>
          </a:bodyPr>
          <a:lstStyle/>
          <a:p>
            <a:pPr algn="l"/>
            <a:r>
              <a:rPr sz="1100" b="1" i="0">
                <a:solidFill>
                  <a:srgbClr val="0D9488"/>
                </a:solidFill>
                <a:latin typeface="Calibri"/>
              </a:rPr>
              <a:t>UPGRADE 4 · AUTOSCALING</a:t>
            </a:r>
          </a:p>
        </p:txBody>
      </p:sp>
      <p:sp>
        <p:nvSpPr>
          <p:cNvPr id="4" name="Title"/>
          <p:cNvSpPr txBox="1"/>
          <p:nvPr/>
        </p:nvSpPr>
        <p:spPr>
          <a:xfrm>
            <a:off x="1280160" y="566928"/>
            <a:ext cx="10515600" cy="640080"/>
          </a:xfrm>
          <a:prstGeom prst="rect">
            <a:avLst/>
          </a:prstGeom>
          <a:noFill/>
        </p:spPr>
        <p:txBody>
          <a:bodyPr wrap="square" lIns="0" rIns="0" tIns="0" bIns="0" anchor="t">
            <a:spAutoFit/>
          </a:bodyPr>
          <a:lstStyle/>
          <a:p>
            <a:pPr algn="l"/>
            <a:r>
              <a:rPr sz="2800" b="1" i="0">
                <a:solidFill>
                  <a:srgbClr val="0F2A44"/>
                </a:solidFill>
                <a:latin typeface="Cambria"/>
              </a:rPr>
              <a:t>Scale on queued work, not on queue length</a:t>
            </a:r>
          </a:p>
        </p:txBody>
      </p:sp>
      <p:sp>
        <p:nvSpPr>
          <p:cNvPr id="5" name="TextBox 4"/>
          <p:cNvSpPr txBox="1"/>
          <p:nvPr/>
        </p:nvSpPr>
        <p:spPr>
          <a:xfrm>
            <a:off x="11155680" y="6446520"/>
            <a:ext cx="731520" cy="274320"/>
          </a:xfrm>
          <a:prstGeom prst="rect">
            <a:avLst/>
          </a:prstGeom>
          <a:noFill/>
        </p:spPr>
        <p:txBody>
          <a:bodyPr wrap="square" lIns="0" rIns="0" tIns="0" bIns="0" anchor="t">
            <a:spAutoFit/>
          </a:bodyPr>
          <a:lstStyle/>
          <a:p>
            <a:pPr algn="r"/>
            <a:r>
              <a:rPr sz="1000" b="0" i="0">
                <a:solidFill>
                  <a:srgbClr val="64748B"/>
                </a:solidFill>
                <a:latin typeface="Calibri"/>
              </a:rPr>
              <a:t>11</a:t>
            </a:r>
          </a:p>
        </p:txBody>
      </p:sp>
      <p:sp>
        <p:nvSpPr>
          <p:cNvPr id="6" name="TextBox 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4748B"/>
                </a:solidFill>
                <a:latin typeface="Calibri"/>
              </a:rPr>
              <a:t>Cloud-Native Parallel Image Processing · BECE355L</a:t>
            </a:r>
          </a:p>
        </p:txBody>
      </p:sp>
      <p:sp>
        <p:nvSpPr>
          <p:cNvPr id="7" name="Rectangle 6"/>
          <p:cNvSpPr/>
          <p:nvPr/>
        </p:nvSpPr>
        <p:spPr>
          <a:xfrm>
            <a:off x="548640" y="1463040"/>
            <a:ext cx="1106424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63040"/>
            <a:ext cx="11064240" cy="1143000"/>
          </a:xfrm>
          <a:prstGeom prst="rect">
            <a:avLst/>
          </a:prstGeom>
          <a:noFill/>
        </p:spPr>
        <p:txBody>
          <a:bodyPr wrap="square" lIns="0" rIns="0" tIns="0" bIns="0" anchor="ctr">
            <a:spAutoFit/>
          </a:bodyPr>
          <a:lstStyle/>
          <a:p>
            <a:pPr algn="ctr"/>
            <a:r>
              <a:rPr sz="2600" b="0" i="1">
                <a:solidFill>
                  <a:srgbClr val="0F2A44"/>
                </a:solidFill>
                <a:latin typeface="Cambria"/>
              </a:rPr>
              <a:t>n = clamp( max( ⌈W / (D·u)⌉ , ⌈λ / u⌉ ), 1, 8 )</a:t>
            </a:r>
          </a:p>
        </p:txBody>
      </p:sp>
      <p:sp>
        <p:nvSpPr>
          <p:cNvPr id="9" name="card W — queued work"/>
          <p:cNvSpPr/>
          <p:nvPr/>
        </p:nvSpPr>
        <p:spPr>
          <a:xfrm>
            <a:off x="548640" y="2880360"/>
            <a:ext cx="3566160" cy="3291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880360"/>
            <a:ext cx="64008" cy="329184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044952"/>
            <a:ext cx="3200400" cy="365760"/>
          </a:xfrm>
          <a:prstGeom prst="rect">
            <a:avLst/>
          </a:prstGeom>
          <a:noFill/>
        </p:spPr>
        <p:txBody>
          <a:bodyPr wrap="square" lIns="0" rIns="0" tIns="0" bIns="0" anchor="t">
            <a:spAutoFit/>
          </a:bodyPr>
          <a:lstStyle/>
          <a:p>
            <a:pPr algn="l"/>
            <a:r>
              <a:rPr sz="1600" b="1" i="0">
                <a:solidFill>
                  <a:srgbClr val="0F2A44"/>
                </a:solidFill>
                <a:latin typeface="Cambria"/>
              </a:rPr>
              <a:t>W — queued work</a:t>
            </a:r>
          </a:p>
        </p:txBody>
      </p:sp>
      <p:sp>
        <p:nvSpPr>
          <p:cNvPr id="12" name="TextBox 11"/>
          <p:cNvSpPr txBox="1"/>
          <p:nvPr/>
        </p:nvSpPr>
        <p:spPr>
          <a:xfrm>
            <a:off x="777240" y="3447288"/>
            <a:ext cx="3200400" cy="2651760"/>
          </a:xfrm>
          <a:prstGeom prst="rect">
            <a:avLst/>
          </a:prstGeom>
          <a:noFill/>
        </p:spPr>
        <p:txBody>
          <a:bodyPr wrap="square" lIns="0" rIns="0" tIns="0" bIns="0" anchor="t">
            <a:spAutoFit/>
          </a:bodyPr>
          <a:lstStyle/>
          <a:p>
            <a:pPr algn="l"/>
            <a:r>
              <a:rPr sz="1400" b="0" i="0">
                <a:solidFill>
                  <a:srgbClr val="1F2937"/>
                </a:solidFill>
                <a:latin typeface="Calibri"/>
              </a:rPr>
              <a:t>Each tile's predicted compute-seconds is added when queued and removed exactly (in Lua) on completion, give-up or delete.</a:t>
            </a:r>
          </a:p>
        </p:txBody>
      </p:sp>
      <p:sp>
        <p:nvSpPr>
          <p:cNvPr id="13" name="card D, u, λ"/>
          <p:cNvSpPr/>
          <p:nvPr/>
        </p:nvSpPr>
        <p:spPr>
          <a:xfrm>
            <a:off x="4297680" y="2880360"/>
            <a:ext cx="3566160" cy="3291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2880360"/>
            <a:ext cx="64008" cy="3291840"/>
          </a:xfrm>
          <a:prstGeom prst="rect">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3044952"/>
            <a:ext cx="3200400" cy="365760"/>
          </a:xfrm>
          <a:prstGeom prst="rect">
            <a:avLst/>
          </a:prstGeom>
          <a:noFill/>
        </p:spPr>
        <p:txBody>
          <a:bodyPr wrap="square" lIns="0" rIns="0" tIns="0" bIns="0" anchor="t">
            <a:spAutoFit/>
          </a:bodyPr>
          <a:lstStyle/>
          <a:p>
            <a:pPr algn="l"/>
            <a:r>
              <a:rPr sz="1600" b="1" i="0">
                <a:solidFill>
                  <a:srgbClr val="0F2A44"/>
                </a:solidFill>
                <a:latin typeface="Cambria"/>
              </a:rPr>
              <a:t>D, u, λ</a:t>
            </a:r>
          </a:p>
        </p:txBody>
      </p:sp>
      <p:sp>
        <p:nvSpPr>
          <p:cNvPr id="16" name="TextBox 15"/>
          <p:cNvSpPr txBox="1"/>
          <p:nvPr/>
        </p:nvSpPr>
        <p:spPr>
          <a:xfrm>
            <a:off x="4526280" y="3447288"/>
            <a:ext cx="3200400" cy="2651760"/>
          </a:xfrm>
          <a:prstGeom prst="rect">
            <a:avLst/>
          </a:prstGeom>
          <a:noFill/>
        </p:spPr>
        <p:txBody>
          <a:bodyPr wrap="square" lIns="0" rIns="0" tIns="0" bIns="0" anchor="t">
            <a:spAutoFit/>
          </a:bodyPr>
          <a:lstStyle/>
          <a:p>
            <a:pPr algn="l"/>
            <a:r>
              <a:rPr sz="1400" b="0" i="0">
                <a:solidFill>
                  <a:srgbClr val="1F2937"/>
                </a:solidFill>
                <a:latin typeface="Calibri"/>
              </a:rPr>
              <a:t>D = latency target 30 s − pod start-up 5 s.
u = 0.8 target utilisation.
λ = EMA of the rate at which work arrives.
Idle (W ≈ 0) for 10 s → drop straight to 1 worker.</a:t>
            </a:r>
          </a:p>
        </p:txBody>
      </p:sp>
      <p:sp>
        <p:nvSpPr>
          <p:cNvPr id="17" name="card Baselines"/>
          <p:cNvSpPr/>
          <p:nvPr/>
        </p:nvSpPr>
        <p:spPr>
          <a:xfrm>
            <a:off x="8046720" y="2880360"/>
            <a:ext cx="3566160" cy="32918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20" y="2880360"/>
            <a:ext cx="64008" cy="32918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3044952"/>
            <a:ext cx="3200400" cy="365760"/>
          </a:xfrm>
          <a:prstGeom prst="rect">
            <a:avLst/>
          </a:prstGeom>
          <a:noFill/>
        </p:spPr>
        <p:txBody>
          <a:bodyPr wrap="square" lIns="0" rIns="0" tIns="0" bIns="0" anchor="t">
            <a:spAutoFit/>
          </a:bodyPr>
          <a:lstStyle/>
          <a:p>
            <a:pPr algn="l"/>
            <a:r>
              <a:rPr sz="1600" b="1" i="0">
                <a:solidFill>
                  <a:srgbClr val="0F2A44"/>
                </a:solidFill>
                <a:latin typeface="Cambria"/>
              </a:rPr>
              <a:t>Baselines</a:t>
            </a:r>
          </a:p>
        </p:txBody>
      </p:sp>
      <p:sp>
        <p:nvSpPr>
          <p:cNvPr id="20" name="TextBox 19"/>
          <p:cNvSpPr txBox="1"/>
          <p:nvPr/>
        </p:nvSpPr>
        <p:spPr>
          <a:xfrm>
            <a:off x="8275320" y="3447288"/>
            <a:ext cx="3200400" cy="2651760"/>
          </a:xfrm>
          <a:prstGeom prst="rect">
            <a:avLst/>
          </a:prstGeom>
          <a:noFill/>
        </p:spPr>
        <p:txBody>
          <a:bodyPr wrap="square" lIns="0" rIns="0" tIns="0" bIns="0" anchor="t">
            <a:spAutoFit/>
          </a:bodyPr>
          <a:lstStyle/>
          <a:p>
            <a:pPr algn="l"/>
            <a:r>
              <a:rPr sz="1400" b="0" i="0">
                <a:solidFill>
                  <a:srgbClr val="1F2937"/>
                </a:solidFill>
                <a:latin typeface="Calibri"/>
              </a:rPr>
              <a:t>HPA: CPU 70 % of request, 30 s scale-down window.
KEDA 2.21: Redis list length, 16 tiles per replica, 3 s polling.
Same 1–8 replicas for all.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badge 4"/>
          <p:cNvSpPr/>
          <p:nvPr/>
        </p:nvSpPr>
        <p:spPr>
          <a:xfrm>
            <a:off x="548640" y="411480"/>
            <a:ext cx="566928" cy="5669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mbria"/>
              </a:rPr>
              <a:t>4</a:t>
            </a:r>
          </a:p>
        </p:txBody>
      </p:sp>
      <p:sp>
        <p:nvSpPr>
          <p:cNvPr id="3" name="TextBox 2"/>
          <p:cNvSpPr txBox="1"/>
          <p:nvPr/>
        </p:nvSpPr>
        <p:spPr>
          <a:xfrm>
            <a:off x="1280160" y="347472"/>
            <a:ext cx="9144000" cy="274320"/>
          </a:xfrm>
          <a:prstGeom prst="rect">
            <a:avLst/>
          </a:prstGeom>
          <a:noFill/>
        </p:spPr>
        <p:txBody>
          <a:bodyPr wrap="square" lIns="0" rIns="0" tIns="0" bIns="0" anchor="t">
            <a:spAutoFit/>
          </a:bodyPr>
          <a:lstStyle/>
          <a:p>
            <a:pPr algn="l"/>
            <a:r>
              <a:rPr sz="1100" b="1" i="0">
                <a:solidFill>
                  <a:srgbClr val="0D9488"/>
                </a:solidFill>
                <a:latin typeface="Calibri"/>
              </a:rPr>
              <a:t>UPGRADE 4 · RESULTS</a:t>
            </a:r>
          </a:p>
        </p:txBody>
      </p:sp>
      <p:sp>
        <p:nvSpPr>
          <p:cNvPr id="4" name="Title"/>
          <p:cNvSpPr txBox="1"/>
          <p:nvPr/>
        </p:nvSpPr>
        <p:spPr>
          <a:xfrm>
            <a:off x="1280160" y="566928"/>
            <a:ext cx="10515600" cy="640080"/>
          </a:xfrm>
          <a:prstGeom prst="rect">
            <a:avLst/>
          </a:prstGeom>
          <a:noFill/>
        </p:spPr>
        <p:txBody>
          <a:bodyPr wrap="square" lIns="0" rIns="0" tIns="0" bIns="0" anchor="t">
            <a:spAutoFit/>
          </a:bodyPr>
          <a:lstStyle/>
          <a:p>
            <a:pPr algn="l"/>
            <a:r>
              <a:rPr sz="2800" b="1" i="0">
                <a:solidFill>
                  <a:srgbClr val="0F2A44"/>
                </a:solidFill>
                <a:latin typeface="Cambria"/>
              </a:rPr>
              <a:t>HPA vs KEDA vs work-aware on the same replayed trace</a:t>
            </a:r>
          </a:p>
        </p:txBody>
      </p:sp>
      <p:sp>
        <p:nvSpPr>
          <p:cNvPr id="5" name="TextBox 4"/>
          <p:cNvSpPr txBox="1"/>
          <p:nvPr/>
        </p:nvSpPr>
        <p:spPr>
          <a:xfrm>
            <a:off x="11155680" y="6446520"/>
            <a:ext cx="731520" cy="274320"/>
          </a:xfrm>
          <a:prstGeom prst="rect">
            <a:avLst/>
          </a:prstGeom>
          <a:noFill/>
        </p:spPr>
        <p:txBody>
          <a:bodyPr wrap="square" lIns="0" rIns="0" tIns="0" bIns="0" anchor="t">
            <a:spAutoFit/>
          </a:bodyPr>
          <a:lstStyle/>
          <a:p>
            <a:pPr algn="r"/>
            <a:r>
              <a:rPr sz="1000" b="0" i="0">
                <a:solidFill>
                  <a:srgbClr val="64748B"/>
                </a:solidFill>
                <a:latin typeface="Calibri"/>
              </a:rPr>
              <a:t>12</a:t>
            </a:r>
          </a:p>
        </p:txBody>
      </p:sp>
      <p:sp>
        <p:nvSpPr>
          <p:cNvPr id="6" name="TextBox 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4748B"/>
                </a:solidFill>
                <a:latin typeface="Calibri"/>
              </a:rPr>
              <a:t>Cloud-Native Parallel Image Processing · BECE355L</a:t>
            </a:r>
          </a:p>
        </p:txBody>
      </p:sp>
      <p:graphicFrame>
        <p:nvGraphicFramePr>
          <p:cNvPr id="7" name="Chart 6"/>
          <p:cNvGraphicFramePr>
            <a:graphicFrameLocks noGrp="1"/>
          </p:cNvGraphicFramePr>
          <p:nvPr/>
        </p:nvGraphicFramePr>
        <p:xfrm>
          <a:off x="457200" y="1417320"/>
          <a:ext cx="3657600" cy="329184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4251960" y="1417320"/>
          <a:ext cx="3657600" cy="3291840"/>
        </p:xfrm>
        <a:graphic>
          <a:graphicData uri="http://schemas.openxmlformats.org/drawingml/2006/chart">
            <c:chart xmlns:c="http://schemas.openxmlformats.org/drawingml/2006/chart" r:id="rId3"/>
          </a:graphicData>
        </a:graphic>
      </p:graphicFrame>
      <p:graphicFrame>
        <p:nvGraphicFramePr>
          <p:cNvPr id="9" name="Chart 8"/>
          <p:cNvGraphicFramePr>
            <a:graphicFrameLocks noGrp="1"/>
          </p:cNvGraphicFramePr>
          <p:nvPr/>
        </p:nvGraphicFramePr>
        <p:xfrm>
          <a:off x="8046720" y="1417320"/>
          <a:ext cx="3657600" cy="3291840"/>
        </p:xfrm>
        <a:graphic>
          <a:graphicData uri="http://schemas.openxmlformats.org/drawingml/2006/chart">
            <c:chart xmlns:c="http://schemas.openxmlformats.org/drawingml/2006/chart" r:id="rId4"/>
          </a:graphicData>
        </a:graphic>
      </p:graphicFrame>
      <p:sp>
        <p:nvSpPr>
          <p:cNvPr id="10" name="TextBox 9"/>
          <p:cNvSpPr txBox="1"/>
          <p:nvPr/>
        </p:nvSpPr>
        <p:spPr>
          <a:xfrm>
            <a:off x="548640" y="4892040"/>
            <a:ext cx="11155680" cy="1463040"/>
          </a:xfrm>
          <a:prstGeom prst="rect">
            <a:avLst/>
          </a:prstGeom>
          <a:noFill/>
        </p:spPr>
        <p:txBody>
          <a:bodyPr wrap="square" lIns="0" rIns="0" tIns="0" bIns="0" anchor="t">
            <a:spAutoFit/>
          </a:bodyPr>
          <a:lstStyle/>
          <a:p>
            <a:pPr algn="l"/>
            <a:r>
              <a:rPr sz="1500" b="0" i="0">
                <a:solidFill>
                  <a:srgbClr val="1F2937"/>
                </a:solidFill>
                <a:latin typeface="Calibri"/>
              </a:rPr>
              <a:t>HPA is cheapest but reacts after 78 s and misses the target. KEDA and work-aware meet it for every job; work-aware uses 25 % fewer pod-seconds because it ignores bursts of cheap tiles (KEDA scales up within 4 s of them), with p95 12.5 s vs 14.8 s. Dropping to 1 worker 10 s after the queue empties saves a further ~12 % over our first version.  (Minikube, 8 CPUs; 32 jobs: cheap and expensive bursts; mean of 3 runs each.)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r>
              <a:rPr sz="1100" b="1" i="0">
                <a:solidFill>
                  <a:srgbClr val="0D9488"/>
                </a:solidFill>
                <a:latin typeface="Calibri"/>
              </a:rPr>
              <a:t>DEPLOYMENT &amp; QUALITY</a:t>
            </a:r>
          </a:p>
        </p:txBody>
      </p:sp>
      <p:sp>
        <p:nvSpPr>
          <p:cNvPr id="3" name="Title"/>
          <p:cNvSpPr txBox="1"/>
          <p:nvPr/>
        </p:nvSpPr>
        <p:spPr>
          <a:xfrm>
            <a:off x="548640" y="566928"/>
            <a:ext cx="10515600" cy="640080"/>
          </a:xfrm>
          <a:prstGeom prst="rect">
            <a:avLst/>
          </a:prstGeom>
          <a:noFill/>
        </p:spPr>
        <p:txBody>
          <a:bodyPr wrap="square" lIns="0" rIns="0" tIns="0" bIns="0" anchor="t">
            <a:spAutoFit/>
          </a:bodyPr>
          <a:lstStyle/>
          <a:p>
            <a:pPr algn="l"/>
            <a:r>
              <a:rPr sz="2800" b="1" i="0">
                <a:solidFill>
                  <a:srgbClr val="0F2A44"/>
                </a:solidFill>
                <a:latin typeface="Cambria"/>
              </a:rPr>
              <a:t>Laptop, Compose, Kubernetes — and the path to AWS</a:t>
            </a:r>
          </a:p>
        </p:txBody>
      </p:sp>
      <p:sp>
        <p:nvSpPr>
          <p:cNvPr id="4" name="TextBox 3"/>
          <p:cNvSpPr txBox="1"/>
          <p:nvPr/>
        </p:nvSpPr>
        <p:spPr>
          <a:xfrm>
            <a:off x="11155680" y="6446520"/>
            <a:ext cx="731520" cy="274320"/>
          </a:xfrm>
          <a:prstGeom prst="rect">
            <a:avLst/>
          </a:prstGeom>
          <a:noFill/>
        </p:spPr>
        <p:txBody>
          <a:bodyPr wrap="square" lIns="0" rIns="0" tIns="0" bIns="0" anchor="t">
            <a:spAutoFit/>
          </a:bodyPr>
          <a:lstStyle/>
          <a:p>
            <a:pPr algn="r"/>
            <a:r>
              <a:rPr sz="1000" b="0" i="0">
                <a:solidFill>
                  <a:srgbClr val="64748B"/>
                </a:solidFill>
                <a:latin typeface="Calibri"/>
              </a:rPr>
              <a:t>13</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4748B"/>
                </a:solidFill>
                <a:latin typeface="Calibri"/>
              </a:rPr>
              <a:t>Cloud-Native Parallel Image Processing · BECE355L</a:t>
            </a:r>
          </a:p>
        </p:txBody>
      </p:sp>
      <p:graphicFrame>
        <p:nvGraphicFramePr>
          <p:cNvPr id="6" name="Table 5"/>
          <p:cNvGraphicFramePr>
            <a:graphicFrameLocks noGrp="1"/>
          </p:cNvGraphicFramePr>
          <p:nvPr/>
        </p:nvGraphicFramePr>
        <p:xfrm>
          <a:off x="548640" y="1463040"/>
          <a:ext cx="6766560" cy="3840480"/>
        </p:xfrm>
        <a:graphic>
          <a:graphicData uri="http://schemas.openxmlformats.org/drawingml/2006/table">
            <a:tbl>
              <a:tblPr firstRow="1" bandRow="1">
                <a:tableStyleId>{5C22544A-7EE6-4342-B048-85BDC9FD1C3A}</a:tableStyleId>
              </a:tblPr>
              <a:tblGrid>
                <a:gridCol w="2255520"/>
                <a:gridCol w="2255520"/>
                <a:gridCol w="2255520"/>
              </a:tblGrid>
              <a:tr h="548640">
                <a:tc>
                  <a:txBody>
                    <a:bodyPr/>
                    <a:lstStyle/>
                    <a:p>
                      <a:r>
                        <a:rPr b="1" sz="1500">
                          <a:solidFill>
                            <a:srgbClr val="FFFFFF"/>
                          </a:solidFill>
                          <a:latin typeface="Calibri"/>
                        </a:rPr>
                        <a:t>Component</a:t>
                      </a:r>
                    </a:p>
                  </a:txBody>
                  <a:tcPr>
                    <a:solidFill>
                      <a:srgbClr val="0F2A44"/>
                    </a:solidFill>
                  </a:tcPr>
                </a:tc>
                <a:tc>
                  <a:txBody>
                    <a:bodyPr/>
                    <a:lstStyle/>
                    <a:p>
                      <a:r>
                        <a:rPr b="1" sz="1500">
                          <a:solidFill>
                            <a:srgbClr val="FFFFFF"/>
                          </a:solidFill>
                          <a:latin typeface="Calibri"/>
                        </a:rPr>
                        <a:t>Ran here</a:t>
                      </a:r>
                    </a:p>
                  </a:txBody>
                  <a:tcPr>
                    <a:solidFill>
                      <a:srgbClr val="0F2A44"/>
                    </a:solidFill>
                  </a:tcPr>
                </a:tc>
                <a:tc>
                  <a:txBody>
                    <a:bodyPr/>
                    <a:lstStyle/>
                    <a:p>
                      <a:r>
                        <a:rPr b="1" sz="1500">
                          <a:solidFill>
                            <a:srgbClr val="FFFFFF"/>
                          </a:solidFill>
                          <a:latin typeface="Calibri"/>
                        </a:rPr>
                        <a:t>On AWS</a:t>
                      </a:r>
                    </a:p>
                  </a:txBody>
                  <a:tcPr>
                    <a:solidFill>
                      <a:srgbClr val="0F2A44"/>
                    </a:solidFill>
                  </a:tcPr>
                </a:tc>
              </a:tr>
              <a:tr h="548640">
                <a:tc>
                  <a:txBody>
                    <a:bodyPr/>
                    <a:lstStyle/>
                    <a:p>
                      <a:r>
                        <a:rPr sz="1400">
                          <a:solidFill>
                            <a:srgbClr val="1F2937"/>
                          </a:solidFill>
                          <a:latin typeface="Calibri"/>
                        </a:rPr>
                        <a:t>Object store</a:t>
                      </a:r>
                    </a:p>
                  </a:txBody>
                  <a:tcPr>
                    <a:solidFill>
                      <a:srgbClr val="FFFFFF"/>
                    </a:solidFill>
                  </a:tcPr>
                </a:tc>
                <a:tc>
                  <a:txBody>
                    <a:bodyPr/>
                    <a:lstStyle/>
                    <a:p>
                      <a:r>
                        <a:rPr sz="1400">
                          <a:solidFill>
                            <a:srgbClr val="1F2937"/>
                          </a:solidFill>
                          <a:latin typeface="Calibri"/>
                        </a:rPr>
                        <a:t>MinIO</a:t>
                      </a:r>
                    </a:p>
                  </a:txBody>
                  <a:tcPr>
                    <a:solidFill>
                      <a:srgbClr val="FFFFFF"/>
                    </a:solidFill>
                  </a:tcPr>
                </a:tc>
                <a:tc>
                  <a:txBody>
                    <a:bodyPr/>
                    <a:lstStyle/>
                    <a:p>
                      <a:r>
                        <a:rPr sz="1400">
                          <a:solidFill>
                            <a:srgbClr val="1F2937"/>
                          </a:solidFill>
                          <a:latin typeface="Calibri"/>
                        </a:rPr>
                        <a:t>Amazon S3 + KMS</a:t>
                      </a:r>
                    </a:p>
                  </a:txBody>
                  <a:tcPr>
                    <a:solidFill>
                      <a:srgbClr val="FFFFFF"/>
                    </a:solidFill>
                  </a:tcPr>
                </a:tc>
              </a:tr>
              <a:tr h="548640">
                <a:tc>
                  <a:txBody>
                    <a:bodyPr/>
                    <a:lstStyle/>
                    <a:p>
                      <a:r>
                        <a:rPr sz="1400">
                          <a:solidFill>
                            <a:srgbClr val="1F2937"/>
                          </a:solidFill>
                          <a:latin typeface="Calibri"/>
                        </a:rPr>
                        <a:t>Queue / state</a:t>
                      </a:r>
                    </a:p>
                  </a:txBody>
                  <a:tcPr>
                    <a:solidFill>
                      <a:srgbClr val="F1F5F9"/>
                    </a:solidFill>
                  </a:tcPr>
                </a:tc>
                <a:tc>
                  <a:txBody>
                    <a:bodyPr/>
                    <a:lstStyle/>
                    <a:p>
                      <a:r>
                        <a:rPr sz="1400">
                          <a:solidFill>
                            <a:srgbClr val="1F2937"/>
                          </a:solidFill>
                          <a:latin typeface="Calibri"/>
                        </a:rPr>
                        <a:t>Redis</a:t>
                      </a:r>
                    </a:p>
                  </a:txBody>
                  <a:tcPr>
                    <a:solidFill>
                      <a:srgbClr val="F1F5F9"/>
                    </a:solidFill>
                  </a:tcPr>
                </a:tc>
                <a:tc>
                  <a:txBody>
                    <a:bodyPr/>
                    <a:lstStyle/>
                    <a:p>
                      <a:r>
                        <a:rPr sz="1400">
                          <a:solidFill>
                            <a:srgbClr val="1F2937"/>
                          </a:solidFill>
                          <a:latin typeface="Calibri"/>
                        </a:rPr>
                        <a:t>ElastiCache</a:t>
                      </a:r>
                    </a:p>
                  </a:txBody>
                  <a:tcPr>
                    <a:solidFill>
                      <a:srgbClr val="F1F5F9"/>
                    </a:solidFill>
                  </a:tcPr>
                </a:tc>
              </a:tr>
              <a:tr h="548640">
                <a:tc>
                  <a:txBody>
                    <a:bodyPr/>
                    <a:lstStyle/>
                    <a:p>
                      <a:r>
                        <a:rPr sz="1400">
                          <a:solidFill>
                            <a:srgbClr val="1F2937"/>
                          </a:solidFill>
                          <a:latin typeface="Calibri"/>
                        </a:rPr>
                        <a:t>Orchestration</a:t>
                      </a:r>
                    </a:p>
                  </a:txBody>
                  <a:tcPr>
                    <a:solidFill>
                      <a:srgbClr val="FFFFFF"/>
                    </a:solidFill>
                  </a:tcPr>
                </a:tc>
                <a:tc>
                  <a:txBody>
                    <a:bodyPr/>
                    <a:lstStyle/>
                    <a:p>
                      <a:r>
                        <a:rPr sz="1400">
                          <a:solidFill>
                            <a:srgbClr val="1F2937"/>
                          </a:solidFill>
                          <a:latin typeface="Calibri"/>
                        </a:rPr>
                        <a:t>Minikube</a:t>
                      </a:r>
                    </a:p>
                  </a:txBody>
                  <a:tcPr>
                    <a:solidFill>
                      <a:srgbClr val="FFFFFF"/>
                    </a:solidFill>
                  </a:tcPr>
                </a:tc>
                <a:tc>
                  <a:txBody>
                    <a:bodyPr/>
                    <a:lstStyle/>
                    <a:p>
                      <a:r>
                        <a:rPr sz="1400">
                          <a:solidFill>
                            <a:srgbClr val="1F2937"/>
                          </a:solidFill>
                          <a:latin typeface="Calibri"/>
                        </a:rPr>
                        <a:t>Amazon EKS</a:t>
                      </a:r>
                    </a:p>
                  </a:txBody>
                  <a:tcPr>
                    <a:solidFill>
                      <a:srgbClr val="FFFFFF"/>
                    </a:solidFill>
                  </a:tcPr>
                </a:tc>
              </a:tr>
              <a:tr h="548640">
                <a:tc>
                  <a:txBody>
                    <a:bodyPr/>
                    <a:lstStyle/>
                    <a:p>
                      <a:r>
                        <a:rPr sz="1400">
                          <a:solidFill>
                            <a:srgbClr val="1F2937"/>
                          </a:solidFill>
                          <a:latin typeface="Calibri"/>
                        </a:rPr>
                        <a:t>Pod scaling</a:t>
                      </a:r>
                    </a:p>
                  </a:txBody>
                  <a:tcPr>
                    <a:solidFill>
                      <a:srgbClr val="F1F5F9"/>
                    </a:solidFill>
                  </a:tcPr>
                </a:tc>
                <a:tc>
                  <a:txBody>
                    <a:bodyPr/>
                    <a:lstStyle/>
                    <a:p>
                      <a:r>
                        <a:rPr sz="1400">
                          <a:solidFill>
                            <a:srgbClr val="1F2937"/>
                          </a:solidFill>
                          <a:latin typeface="Calibri"/>
                        </a:rPr>
                        <a:t>Work-aware / HPA / KEDA</a:t>
                      </a:r>
                    </a:p>
                  </a:txBody>
                  <a:tcPr>
                    <a:solidFill>
                      <a:srgbClr val="F1F5F9"/>
                    </a:solidFill>
                  </a:tcPr>
                </a:tc>
                <a:tc>
                  <a:txBody>
                    <a:bodyPr/>
                    <a:lstStyle/>
                    <a:p>
                      <a:r>
                        <a:rPr sz="1400">
                          <a:solidFill>
                            <a:srgbClr val="1F2937"/>
                          </a:solidFill>
                          <a:latin typeface="Calibri"/>
                        </a:rPr>
                        <a:t>same + Karpenter</a:t>
                      </a:r>
                    </a:p>
                  </a:txBody>
                  <a:tcPr>
                    <a:solidFill>
                      <a:srgbClr val="F1F5F9"/>
                    </a:solidFill>
                  </a:tcPr>
                </a:tc>
              </a:tr>
              <a:tr h="548640">
                <a:tc>
                  <a:txBody>
                    <a:bodyPr/>
                    <a:lstStyle/>
                    <a:p>
                      <a:r>
                        <a:rPr sz="1400">
                          <a:solidFill>
                            <a:srgbClr val="1F2937"/>
                          </a:solidFill>
                          <a:latin typeface="Calibri"/>
                        </a:rPr>
                        <a:t>Credentials</a:t>
                      </a:r>
                    </a:p>
                  </a:txBody>
                  <a:tcPr>
                    <a:solidFill>
                      <a:srgbClr val="FFFFFF"/>
                    </a:solidFill>
                  </a:tcPr>
                </a:tc>
                <a:tc>
                  <a:txBody>
                    <a:bodyPr/>
                    <a:lstStyle/>
                    <a:p>
                      <a:r>
                        <a:rPr sz="1400">
                          <a:solidFill>
                            <a:srgbClr val="1F2937"/>
                          </a:solidFill>
                          <a:latin typeface="Calibri"/>
                        </a:rPr>
                        <a:t>K8s Secret</a:t>
                      </a:r>
                    </a:p>
                  </a:txBody>
                  <a:tcPr>
                    <a:solidFill>
                      <a:srgbClr val="FFFFFF"/>
                    </a:solidFill>
                  </a:tcPr>
                </a:tc>
                <a:tc>
                  <a:txBody>
                    <a:bodyPr/>
                    <a:lstStyle/>
                    <a:p>
                      <a:r>
                        <a:rPr sz="1400">
                          <a:solidFill>
                            <a:srgbClr val="1F2937"/>
                          </a:solidFill>
                          <a:latin typeface="Calibri"/>
                        </a:rPr>
                        <a:t>IRSA roles</a:t>
                      </a:r>
                    </a:p>
                  </a:txBody>
                  <a:tcPr>
                    <a:solidFill>
                      <a:srgbClr val="FFFFFF"/>
                    </a:solidFill>
                  </a:tcPr>
                </a:tc>
              </a:tr>
              <a:tr h="548640">
                <a:tc>
                  <a:txBody>
                    <a:bodyPr/>
                    <a:lstStyle/>
                    <a:p>
                      <a:r>
                        <a:rPr sz="1400">
                          <a:solidFill>
                            <a:srgbClr val="1F2937"/>
                          </a:solidFill>
                          <a:latin typeface="Calibri"/>
                        </a:rPr>
                        <a:t>Images</a:t>
                      </a:r>
                    </a:p>
                  </a:txBody>
                  <a:tcPr>
                    <a:solidFill>
                      <a:srgbClr val="F1F5F9"/>
                    </a:solidFill>
                  </a:tcPr>
                </a:tc>
                <a:tc>
                  <a:txBody>
                    <a:bodyPr/>
                    <a:lstStyle/>
                    <a:p>
                      <a:r>
                        <a:rPr sz="1400">
                          <a:solidFill>
                            <a:srgbClr val="1F2937"/>
                          </a:solidFill>
                          <a:latin typeface="Calibri"/>
                        </a:rPr>
                        <a:t>Minikube Docker</a:t>
                      </a:r>
                    </a:p>
                  </a:txBody>
                  <a:tcPr>
                    <a:solidFill>
                      <a:srgbClr val="F1F5F9"/>
                    </a:solidFill>
                  </a:tcPr>
                </a:tc>
                <a:tc>
                  <a:txBody>
                    <a:bodyPr/>
                    <a:lstStyle/>
                    <a:p>
                      <a:r>
                        <a:rPr sz="1400">
                          <a:solidFill>
                            <a:srgbClr val="1F2937"/>
                          </a:solidFill>
                          <a:latin typeface="Calibri"/>
                        </a:rPr>
                        <a:t>Amazon ECR</a:t>
                      </a:r>
                    </a:p>
                  </a:txBody>
                  <a:tcPr>
                    <a:solidFill>
                      <a:srgbClr val="F1F5F9"/>
                    </a:solidFill>
                  </a:tcPr>
                </a:tc>
              </a:tr>
            </a:tbl>
          </a:graphicData>
        </a:graphic>
      </p:graphicFrame>
      <p:sp>
        <p:nvSpPr>
          <p:cNvPr id="7" name="TextBox 6"/>
          <p:cNvSpPr txBox="1"/>
          <p:nvPr/>
        </p:nvSpPr>
        <p:spPr>
          <a:xfrm>
            <a:off x="7863840" y="1463040"/>
            <a:ext cx="3931920" cy="731520"/>
          </a:xfrm>
          <a:prstGeom prst="rect">
            <a:avLst/>
          </a:prstGeom>
          <a:noFill/>
        </p:spPr>
        <p:txBody>
          <a:bodyPr wrap="square" lIns="0" rIns="0" tIns="0" bIns="0" anchor="t">
            <a:spAutoFit/>
          </a:bodyPr>
          <a:lstStyle/>
          <a:p>
            <a:pPr algn="l"/>
            <a:r>
              <a:rPr sz="3600" b="1" i="0">
                <a:solidFill>
                  <a:srgbClr val="0D9488"/>
                </a:solidFill>
                <a:latin typeface="Cambria"/>
              </a:rPr>
              <a:t>43 tests</a:t>
            </a:r>
          </a:p>
        </p:txBody>
      </p:sp>
      <p:sp>
        <p:nvSpPr>
          <p:cNvPr id="8" name="TextBox 7"/>
          <p:cNvSpPr txBox="1"/>
          <p:nvPr/>
        </p:nvSpPr>
        <p:spPr>
          <a:xfrm>
            <a:off x="7863840" y="2240280"/>
            <a:ext cx="3931920" cy="731520"/>
          </a:xfrm>
          <a:prstGeom prst="rect">
            <a:avLst/>
          </a:prstGeom>
          <a:noFill/>
        </p:spPr>
        <p:txBody>
          <a:bodyPr wrap="square" lIns="0" rIns="0" tIns="0" bIns="0" anchor="t">
            <a:spAutoFit/>
          </a:bodyPr>
          <a:lstStyle/>
          <a:p>
            <a:pPr algn="l"/>
            <a:r>
              <a:rPr sz="1300" b="0" i="0">
                <a:solidFill>
                  <a:srgbClr val="64748B"/>
                </a:solidFill>
                <a:latin typeface="Calibri"/>
              </a:rPr>
              <a:t>all pass · 17 new for the upgrades</a:t>
            </a:r>
          </a:p>
        </p:txBody>
      </p:sp>
      <p:sp>
        <p:nvSpPr>
          <p:cNvPr id="9" name="TextBox 8"/>
          <p:cNvSpPr txBox="1"/>
          <p:nvPr/>
        </p:nvSpPr>
        <p:spPr>
          <a:xfrm>
            <a:off x="7863840" y="2926080"/>
            <a:ext cx="3931920" cy="3291840"/>
          </a:xfrm>
          <a:prstGeom prst="rect">
            <a:avLst/>
          </a:prstGeom>
          <a:noFill/>
        </p:spPr>
        <p:txBody>
          <a:bodyPr wrap="square" lIns="0" rIns="0" tIns="0" bIns="0">
            <a:spAutoFit/>
          </a:bodyPr>
          <a:lstStyle/>
          <a:p>
            <a:pPr>
              <a:spcAft>
                <a:spcPts val="600"/>
              </a:spcAft>
            </a:pPr>
            <a:r>
              <a:rPr sz="1400">
                <a:solidFill>
                  <a:srgbClr val="0D9488"/>
                </a:solidFill>
                <a:latin typeface="Calibri"/>
              </a:rPr>
              <a:t>▸  </a:t>
            </a:r>
            <a:r>
              <a:rPr b="1" sz="1400">
                <a:solidFill>
                  <a:srgbClr val="1F2937"/>
                </a:solidFill>
                <a:latin typeface="Calibri"/>
              </a:rPr>
              <a:t>Seam-free:</a:t>
            </a:r>
            <a:r>
              <a:rPr sz="1400">
                <a:solidFill>
                  <a:srgbClr val="1F2937"/>
                </a:solidFill>
                <a:latin typeface="Calibri"/>
              </a:rPr>
              <a:t> tiled = whole image (classical exact; neural ≥ 40 dB seams)</a:t>
            </a:r>
          </a:p>
          <a:p>
            <a:pPr>
              <a:spcAft>
                <a:spcPts val="600"/>
              </a:spcAft>
            </a:pPr>
            <a:r>
              <a:rPr sz="1400">
                <a:solidFill>
                  <a:srgbClr val="0D9488"/>
                </a:solidFill>
                <a:latin typeface="Calibri"/>
              </a:rPr>
              <a:t>▸  </a:t>
            </a:r>
            <a:r>
              <a:rPr b="1" sz="1400">
                <a:solidFill>
                  <a:srgbClr val="1F2937"/>
                </a:solidFill>
                <a:latin typeface="Calibri"/>
              </a:rPr>
              <a:t>Fault tolerance kept:</a:t>
            </a:r>
            <a:r>
              <a:rPr sz="1400">
                <a:solidFill>
                  <a:srgbClr val="1F2937"/>
                </a:solidFill>
                <a:latin typeface="Calibri"/>
              </a:rPr>
              <a:t> killed worker → leased tiles re-run</a:t>
            </a:r>
          </a:p>
          <a:p>
            <a:pPr>
              <a:spcAft>
                <a:spcPts val="600"/>
              </a:spcAft>
            </a:pPr>
            <a:r>
              <a:rPr sz="1400">
                <a:solidFill>
                  <a:srgbClr val="0D9488"/>
                </a:solidFill>
                <a:latin typeface="Calibri"/>
              </a:rPr>
              <a:t>▸  </a:t>
            </a:r>
            <a:r>
              <a:rPr b="1" sz="1400">
                <a:solidFill>
                  <a:srgbClr val="1F2937"/>
                </a:solidFill>
                <a:latin typeface="Calibri"/>
              </a:rPr>
              <a:t>Exact accounting:</a:t>
            </a:r>
            <a:r>
              <a:rPr sz="1400">
                <a:solidFill>
                  <a:srgbClr val="1F2937"/>
                </a:solidFill>
                <a:latin typeface="Calibri"/>
              </a:rPr>
              <a:t> work counter survives retries and duplicates</a:t>
            </a:r>
          </a:p>
          <a:p>
            <a:pPr>
              <a:spcAft>
                <a:spcPts val="600"/>
              </a:spcAft>
            </a:pPr>
            <a:r>
              <a:rPr sz="1400">
                <a:solidFill>
                  <a:srgbClr val="0D9488"/>
                </a:solidFill>
                <a:latin typeface="Calibri"/>
              </a:rPr>
              <a:t>▸  </a:t>
            </a:r>
            <a:r>
              <a:rPr b="1" sz="1400">
                <a:solidFill>
                  <a:srgbClr val="1F2937"/>
                </a:solidFill>
                <a:latin typeface="Calibri"/>
              </a:rPr>
              <a:t>AWS templates:</a:t>
            </a:r>
            <a:r>
              <a:rPr sz="1400">
                <a:solidFill>
                  <a:srgbClr val="1F2937"/>
                </a:solidFill>
                <a:latin typeface="Calibri"/>
              </a:rPr>
              <a:t> written, not deployed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47472"/>
            <a:ext cx="9144000" cy="274320"/>
          </a:xfrm>
          <a:prstGeom prst="rect">
            <a:avLst/>
          </a:prstGeom>
          <a:noFill/>
        </p:spPr>
        <p:txBody>
          <a:bodyPr wrap="square" lIns="0" rIns="0" tIns="0" bIns="0" anchor="t">
            <a:spAutoFit/>
          </a:bodyPr>
          <a:lstStyle/>
          <a:p>
            <a:pPr algn="l"/>
            <a:r>
              <a:rPr sz="1100" b="1" i="0">
                <a:solidFill>
                  <a:srgbClr val="0D9488"/>
                </a:solidFill>
                <a:latin typeface="Calibri"/>
              </a:rPr>
              <a:t>DISCUSSION</a:t>
            </a:r>
          </a:p>
        </p:txBody>
      </p:sp>
      <p:sp>
        <p:nvSpPr>
          <p:cNvPr id="3" name="Title"/>
          <p:cNvSpPr txBox="1"/>
          <p:nvPr/>
        </p:nvSpPr>
        <p:spPr>
          <a:xfrm>
            <a:off x="548640" y="566928"/>
            <a:ext cx="10515600" cy="640080"/>
          </a:xfrm>
          <a:prstGeom prst="rect">
            <a:avLst/>
          </a:prstGeom>
          <a:noFill/>
        </p:spPr>
        <p:txBody>
          <a:bodyPr wrap="square" lIns="0" rIns="0" tIns="0" bIns="0" anchor="t">
            <a:spAutoFit/>
          </a:bodyPr>
          <a:lstStyle/>
          <a:p>
            <a:pPr algn="l"/>
            <a:r>
              <a:rPr sz="2800" b="1" i="0">
                <a:solidFill>
                  <a:srgbClr val="0F2A44"/>
                </a:solidFill>
                <a:latin typeface="Cambria"/>
              </a:rPr>
              <a:t>What we learned, and what is left</a:t>
            </a:r>
          </a:p>
        </p:txBody>
      </p:sp>
      <p:sp>
        <p:nvSpPr>
          <p:cNvPr id="4" name="TextBox 3"/>
          <p:cNvSpPr txBox="1"/>
          <p:nvPr/>
        </p:nvSpPr>
        <p:spPr>
          <a:xfrm>
            <a:off x="11155680" y="6446520"/>
            <a:ext cx="731520" cy="274320"/>
          </a:xfrm>
          <a:prstGeom prst="rect">
            <a:avLst/>
          </a:prstGeom>
          <a:noFill/>
        </p:spPr>
        <p:txBody>
          <a:bodyPr wrap="square" lIns="0" rIns="0" tIns="0" bIns="0" anchor="t">
            <a:spAutoFit/>
          </a:bodyPr>
          <a:lstStyle/>
          <a:p>
            <a:pPr algn="r"/>
            <a:r>
              <a:rPr sz="1000" b="0" i="0">
                <a:solidFill>
                  <a:srgbClr val="64748B"/>
                </a:solidFill>
                <a:latin typeface="Calibri"/>
              </a:rPr>
              <a:t>14</a:t>
            </a:r>
          </a:p>
        </p:txBody>
      </p:sp>
      <p:sp>
        <p:nvSpPr>
          <p:cNvPr id="5" name="TextBox 4"/>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4748B"/>
                </a:solidFill>
                <a:latin typeface="Calibri"/>
              </a:rPr>
              <a:t>Cloud-Native Parallel Image Processing · BECE355L</a:t>
            </a:r>
          </a:p>
        </p:txBody>
      </p:sp>
      <p:sp>
        <p:nvSpPr>
          <p:cNvPr id="6" name="card Lessons"/>
          <p:cNvSpPr/>
          <p:nvPr/>
        </p:nvSpPr>
        <p:spPr>
          <a:xfrm>
            <a:off x="548640" y="1463040"/>
            <a:ext cx="5394960" cy="4663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463040"/>
            <a:ext cx="64008" cy="466344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27632"/>
            <a:ext cx="5029200" cy="365760"/>
          </a:xfrm>
          <a:prstGeom prst="rect">
            <a:avLst/>
          </a:prstGeom>
          <a:noFill/>
        </p:spPr>
        <p:txBody>
          <a:bodyPr wrap="square" lIns="0" rIns="0" tIns="0" bIns="0" anchor="t">
            <a:spAutoFit/>
          </a:bodyPr>
          <a:lstStyle/>
          <a:p>
            <a:pPr algn="l"/>
            <a:r>
              <a:rPr sz="1600" b="1" i="0">
                <a:solidFill>
                  <a:srgbClr val="0F2A44"/>
                </a:solidFill>
                <a:latin typeface="Cambria"/>
              </a:rPr>
              <a:t>Lessons</a:t>
            </a:r>
          </a:p>
        </p:txBody>
      </p:sp>
      <p:sp>
        <p:nvSpPr>
          <p:cNvPr id="9" name="TextBox 8"/>
          <p:cNvSpPr txBox="1"/>
          <p:nvPr/>
        </p:nvSpPr>
        <p:spPr>
          <a:xfrm>
            <a:off x="777240" y="2029968"/>
            <a:ext cx="5029200" cy="4023360"/>
          </a:xfrm>
          <a:prstGeom prst="rect">
            <a:avLst/>
          </a:prstGeom>
          <a:noFill/>
        </p:spPr>
        <p:txBody>
          <a:bodyPr wrap="square" lIns="0" rIns="0" tIns="0" bIns="0" anchor="t">
            <a:spAutoFit/>
          </a:bodyPr>
          <a:lstStyle/>
          <a:p>
            <a:pPr algn="l"/>
            <a:r>
              <a:rPr sz="1500" b="0" i="0">
                <a:solidFill>
                  <a:srgbClr val="1F2937"/>
                </a:solidFill>
                <a:latin typeface="Calibri"/>
              </a:rPr>
              <a:t>Whether and how finely to distribute matters as much as the parallel machinery.
Object storage trades ~1.3 ms per tile for removing the memory ceiling.
Effective receptive fields are far smaller than theoretical ones.
Neural ops are memory-bound on one host: measure, don't assume.</a:t>
            </a:r>
          </a:p>
        </p:txBody>
      </p:sp>
      <p:sp>
        <p:nvSpPr>
          <p:cNvPr id="10" name="card Limitations &amp; future work"/>
          <p:cNvSpPr/>
          <p:nvPr/>
        </p:nvSpPr>
        <p:spPr>
          <a:xfrm>
            <a:off x="6217920" y="1463040"/>
            <a:ext cx="5394960" cy="4663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463040"/>
            <a:ext cx="64008" cy="466344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627632"/>
            <a:ext cx="5029200" cy="365760"/>
          </a:xfrm>
          <a:prstGeom prst="rect">
            <a:avLst/>
          </a:prstGeom>
          <a:noFill/>
        </p:spPr>
        <p:txBody>
          <a:bodyPr wrap="square" lIns="0" rIns="0" tIns="0" bIns="0" anchor="t">
            <a:spAutoFit/>
          </a:bodyPr>
          <a:lstStyle/>
          <a:p>
            <a:pPr algn="l"/>
            <a:r>
              <a:rPr sz="1600" b="1" i="0">
                <a:solidFill>
                  <a:srgbClr val="0F2A44"/>
                </a:solidFill>
                <a:latin typeface="Cambria"/>
              </a:rPr>
              <a:t>Limitations &amp; future work</a:t>
            </a:r>
          </a:p>
        </p:txBody>
      </p:sp>
      <p:sp>
        <p:nvSpPr>
          <p:cNvPr id="13" name="TextBox 12"/>
          <p:cNvSpPr txBox="1"/>
          <p:nvPr/>
        </p:nvSpPr>
        <p:spPr>
          <a:xfrm>
            <a:off x="6446520" y="2029968"/>
            <a:ext cx="5029200" cy="4023360"/>
          </a:xfrm>
          <a:prstGeom prst="rect">
            <a:avLst/>
          </a:prstGeom>
          <a:noFill/>
        </p:spPr>
        <p:txBody>
          <a:bodyPr wrap="square" lIns="0" rIns="0" tIns="0" bIns="0" anchor="t">
            <a:spAutoFit/>
          </a:bodyPr>
          <a:lstStyle/>
          <a:p>
            <a:pPr algn="l"/>
            <a:r>
              <a:rPr sz="1500" b="0" i="0">
                <a:solidFill>
                  <a:srgbClr val="1F2937"/>
                </a:solidFill>
                <a:latin typeface="Calibri"/>
              </a:rPr>
              <a:t>Single host: a multi-node EKS run would test the model on real networks.
Cheap ops should run in-process at the API, not through the queue.
Not built: GPU workers, spot node pools, COG range reads + deep-zoom viewer, learned cost models.
MAPE 20–25 %: good for decisions, not SLAs.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2A44"/>
        </a:solidFill>
        <a:effectLst/>
      </p:bgPr>
    </p:bg>
    <p:spTree>
      <p:nvGrpSpPr>
        <p:cNvPr id="1" name=""/>
        <p:cNvGrpSpPr/>
        <p:nvPr/>
      </p:nvGrpSpPr>
      <p:grpSpPr/>
      <p:sp>
        <p:nvSpPr>
          <p:cNvPr id="2" name="Title"/>
          <p:cNvSpPr txBox="1"/>
          <p:nvPr/>
        </p:nvSpPr>
        <p:spPr>
          <a:xfrm>
            <a:off x="548640" y="566928"/>
            <a:ext cx="10515600" cy="640080"/>
          </a:xfrm>
          <a:prstGeom prst="rect">
            <a:avLst/>
          </a:prstGeom>
          <a:noFill/>
        </p:spPr>
        <p:txBody>
          <a:bodyPr wrap="square" lIns="0" rIns="0" tIns="0" bIns="0" anchor="t">
            <a:spAutoFit/>
          </a:bodyPr>
          <a:lstStyle/>
          <a:p>
            <a:pPr algn="l"/>
            <a:r>
              <a:rPr sz="2800" b="1" i="0">
                <a:solidFill>
                  <a:srgbClr val="FFFFFF"/>
                </a:solidFill>
                <a:latin typeface="Cambria"/>
              </a:rPr>
              <a:t/>
            </a:r>
          </a:p>
        </p:txBody>
      </p:sp>
      <p:sp>
        <p:nvSpPr>
          <p:cNvPr id="3" name="TextBox 2"/>
          <p:cNvSpPr txBox="1"/>
          <p:nvPr/>
        </p:nvSpPr>
        <p:spPr>
          <a:xfrm>
            <a:off x="731520" y="1097280"/>
            <a:ext cx="10515600" cy="914400"/>
          </a:xfrm>
          <a:prstGeom prst="rect">
            <a:avLst/>
          </a:prstGeom>
          <a:noFill/>
        </p:spPr>
        <p:txBody>
          <a:bodyPr wrap="square" lIns="0" rIns="0" tIns="0" bIns="0" anchor="t">
            <a:spAutoFit/>
          </a:bodyPr>
          <a:lstStyle/>
          <a:p>
            <a:pPr algn="l"/>
            <a:r>
              <a:rPr sz="4000" b="1" i="0">
                <a:solidFill>
                  <a:srgbClr val="FFFFFF"/>
                </a:solidFill>
                <a:latin typeface="Cambria"/>
              </a:rPr>
              <a:t>From tile-parallel to cost-aware</a:t>
            </a:r>
          </a:p>
        </p:txBody>
      </p:sp>
      <p:sp>
        <p:nvSpPr>
          <p:cNvPr id="4" name="TextBox 3"/>
          <p:cNvSpPr txBox="1"/>
          <p:nvPr/>
        </p:nvSpPr>
        <p:spPr>
          <a:xfrm>
            <a:off x="731520" y="2377440"/>
            <a:ext cx="548640" cy="548640"/>
          </a:xfrm>
          <a:prstGeom prst="rect">
            <a:avLst/>
          </a:prstGeom>
          <a:noFill/>
        </p:spPr>
        <p:txBody>
          <a:bodyPr wrap="square" lIns="0" rIns="0" tIns="0" bIns="0" anchor="t">
            <a:spAutoFit/>
          </a:bodyPr>
          <a:lstStyle/>
          <a:p>
            <a:pPr algn="l"/>
            <a:r>
              <a:rPr sz="2600" b="1" i="0">
                <a:solidFill>
                  <a:srgbClr val="0D9488"/>
                </a:solidFill>
                <a:latin typeface="Calibri"/>
              </a:rPr>
              <a:t>①</a:t>
            </a:r>
          </a:p>
        </p:txBody>
      </p:sp>
      <p:sp>
        <p:nvSpPr>
          <p:cNvPr id="5" name="TextBox 4"/>
          <p:cNvSpPr txBox="1"/>
          <p:nvPr/>
        </p:nvSpPr>
        <p:spPr>
          <a:xfrm>
            <a:off x="1371600" y="2423160"/>
            <a:ext cx="10058400" cy="548640"/>
          </a:xfrm>
          <a:prstGeom prst="rect">
            <a:avLst/>
          </a:prstGeom>
          <a:noFill/>
        </p:spPr>
        <p:txBody>
          <a:bodyPr wrap="square" lIns="0" rIns="0" tIns="0" bIns="0" anchor="t">
            <a:spAutoFit/>
          </a:bodyPr>
          <a:lstStyle/>
          <a:p>
            <a:pPr algn="l"/>
            <a:r>
              <a:rPr sz="2100" b="0" i="0">
                <a:solidFill>
                  <a:srgbClr val="FFFFFF"/>
                </a:solidFill>
                <a:latin typeface="Calibri"/>
              </a:rPr>
              <a:t>226 MB → 54 KB of Redis per job</a:t>
            </a:r>
          </a:p>
        </p:txBody>
      </p:sp>
      <p:sp>
        <p:nvSpPr>
          <p:cNvPr id="6" name="TextBox 5"/>
          <p:cNvSpPr txBox="1"/>
          <p:nvPr/>
        </p:nvSpPr>
        <p:spPr>
          <a:xfrm>
            <a:off x="731520" y="3108960"/>
            <a:ext cx="548640" cy="548640"/>
          </a:xfrm>
          <a:prstGeom prst="rect">
            <a:avLst/>
          </a:prstGeom>
          <a:noFill/>
        </p:spPr>
        <p:txBody>
          <a:bodyPr wrap="square" lIns="0" rIns="0" tIns="0" bIns="0" anchor="t">
            <a:spAutoFit/>
          </a:bodyPr>
          <a:lstStyle/>
          <a:p>
            <a:pPr algn="l"/>
            <a:r>
              <a:rPr sz="2600" b="1" i="0">
                <a:solidFill>
                  <a:srgbClr val="0D9488"/>
                </a:solidFill>
                <a:latin typeface="Calibri"/>
              </a:rPr>
              <a:t>②</a:t>
            </a:r>
          </a:p>
        </p:txBody>
      </p:sp>
      <p:sp>
        <p:nvSpPr>
          <p:cNvPr id="7" name="TextBox 6"/>
          <p:cNvSpPr txBox="1"/>
          <p:nvPr/>
        </p:nvSpPr>
        <p:spPr>
          <a:xfrm>
            <a:off x="1371600" y="3154680"/>
            <a:ext cx="10058400" cy="548640"/>
          </a:xfrm>
          <a:prstGeom prst="rect">
            <a:avLst/>
          </a:prstGeom>
          <a:noFill/>
        </p:spPr>
        <p:txBody>
          <a:bodyPr wrap="square" lIns="0" rIns="0" tIns="0" bIns="0" anchor="t">
            <a:spAutoFit/>
          </a:bodyPr>
          <a:lstStyle/>
          <a:p>
            <a:pPr algn="l"/>
            <a:r>
              <a:rPr sz="2100" b="0" i="0">
                <a:solidFill>
                  <a:srgbClr val="FFFFFF"/>
                </a:solidFill>
                <a:latin typeface="Calibri"/>
              </a:rPr>
              <a:t>HED + Real-ESRGAN, halos 80 px / 4 px, seam-free</a:t>
            </a:r>
          </a:p>
        </p:txBody>
      </p:sp>
      <p:sp>
        <p:nvSpPr>
          <p:cNvPr id="8" name="TextBox 7"/>
          <p:cNvSpPr txBox="1"/>
          <p:nvPr/>
        </p:nvSpPr>
        <p:spPr>
          <a:xfrm>
            <a:off x="731520" y="3840480"/>
            <a:ext cx="548640" cy="548640"/>
          </a:xfrm>
          <a:prstGeom prst="rect">
            <a:avLst/>
          </a:prstGeom>
          <a:noFill/>
        </p:spPr>
        <p:txBody>
          <a:bodyPr wrap="square" lIns="0" rIns="0" tIns="0" bIns="0" anchor="t">
            <a:spAutoFit/>
          </a:bodyPr>
          <a:lstStyle/>
          <a:p>
            <a:pPr algn="l"/>
            <a:r>
              <a:rPr sz="2600" b="1" i="0">
                <a:solidFill>
                  <a:srgbClr val="0D9488"/>
                </a:solidFill>
                <a:latin typeface="Calibri"/>
              </a:rPr>
              <a:t>③</a:t>
            </a:r>
          </a:p>
        </p:txBody>
      </p:sp>
      <p:sp>
        <p:nvSpPr>
          <p:cNvPr id="9" name="TextBox 8"/>
          <p:cNvSpPr txBox="1"/>
          <p:nvPr/>
        </p:nvSpPr>
        <p:spPr>
          <a:xfrm>
            <a:off x="1371600" y="3886200"/>
            <a:ext cx="10058400" cy="548640"/>
          </a:xfrm>
          <a:prstGeom prst="rect">
            <a:avLst/>
          </a:prstGeom>
          <a:noFill/>
        </p:spPr>
        <p:txBody>
          <a:bodyPr wrap="square" lIns="0" rIns="0" tIns="0" bIns="0" anchor="t">
            <a:spAutoFit/>
          </a:bodyPr>
          <a:lstStyle/>
          <a:p>
            <a:pPr algn="l"/>
            <a:r>
              <a:rPr sz="2100" b="0" i="0">
                <a:solidFill>
                  <a:srgbClr val="FFFFFF"/>
                </a:solidFill>
                <a:latin typeface="Calibri"/>
              </a:rPr>
              <a:t>25 % prediction error; no more slowdowns from naive tiling</a:t>
            </a:r>
          </a:p>
        </p:txBody>
      </p:sp>
      <p:sp>
        <p:nvSpPr>
          <p:cNvPr id="10" name="TextBox 9"/>
          <p:cNvSpPr txBox="1"/>
          <p:nvPr/>
        </p:nvSpPr>
        <p:spPr>
          <a:xfrm>
            <a:off x="731520" y="4572000"/>
            <a:ext cx="548640" cy="548640"/>
          </a:xfrm>
          <a:prstGeom prst="rect">
            <a:avLst/>
          </a:prstGeom>
          <a:noFill/>
        </p:spPr>
        <p:txBody>
          <a:bodyPr wrap="square" lIns="0" rIns="0" tIns="0" bIns="0" anchor="t">
            <a:spAutoFit/>
          </a:bodyPr>
          <a:lstStyle/>
          <a:p>
            <a:pPr algn="l"/>
            <a:r>
              <a:rPr sz="2600" b="1" i="0">
                <a:solidFill>
                  <a:srgbClr val="0D9488"/>
                </a:solidFill>
                <a:latin typeface="Calibri"/>
              </a:rPr>
              <a:t>④</a:t>
            </a:r>
          </a:p>
        </p:txBody>
      </p:sp>
      <p:sp>
        <p:nvSpPr>
          <p:cNvPr id="11" name="TextBox 10"/>
          <p:cNvSpPr txBox="1"/>
          <p:nvPr/>
        </p:nvSpPr>
        <p:spPr>
          <a:xfrm>
            <a:off x="1371600" y="4617720"/>
            <a:ext cx="10058400" cy="548640"/>
          </a:xfrm>
          <a:prstGeom prst="rect">
            <a:avLst/>
          </a:prstGeom>
          <a:noFill/>
        </p:spPr>
        <p:txBody>
          <a:bodyPr wrap="square" lIns="0" rIns="0" tIns="0" bIns="0" anchor="t">
            <a:spAutoFit/>
          </a:bodyPr>
          <a:lstStyle/>
          <a:p>
            <a:pPr algn="l"/>
            <a:r>
              <a:rPr sz="2100" b="0" i="0">
                <a:solidFill>
                  <a:srgbClr val="FFFFFF"/>
                </a:solidFill>
                <a:latin typeface="Calibri"/>
              </a:rPr>
              <a:t>autoscaling on queued compute-seconds, compared with HPA and KEDA</a:t>
            </a:r>
          </a:p>
        </p:txBody>
      </p:sp>
      <p:sp>
        <p:nvSpPr>
          <p:cNvPr id="12" name="TextBox 11"/>
          <p:cNvSpPr txBox="1"/>
          <p:nvPr/>
        </p:nvSpPr>
        <p:spPr>
          <a:xfrm>
            <a:off x="731520" y="5669280"/>
            <a:ext cx="10515600" cy="457200"/>
          </a:xfrm>
          <a:prstGeom prst="rect">
            <a:avLst/>
          </a:prstGeom>
          <a:noFill/>
        </p:spPr>
        <p:txBody>
          <a:bodyPr wrap="square" lIns="0" rIns="0" tIns="0" bIns="0" anchor="t">
            <a:spAutoFit/>
          </a:bodyPr>
          <a:lstStyle/>
          <a:p>
            <a:pPr algn="l"/>
            <a:r>
              <a:rPr sz="1600" b="0" i="0">
                <a:solidFill>
                  <a:srgbClr val="CBD5E1"/>
                </a:solidFill>
                <a:latin typeface="Calibri"/>
              </a:rPr>
              <a:t>Thank you  ·  github.com/GHOSTALERT/cloud-native-ing-proc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